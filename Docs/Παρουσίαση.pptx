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86" r:id="rId5"/>
    <p:sldId id="330" r:id="rId6"/>
    <p:sldId id="317" r:id="rId7"/>
    <p:sldId id="288" r:id="rId8"/>
    <p:sldId id="331" r:id="rId9"/>
    <p:sldId id="319" r:id="rId10"/>
    <p:sldId id="312" r:id="rId11"/>
    <p:sldId id="320" r:id="rId12"/>
    <p:sldId id="323" r:id="rId13"/>
    <p:sldId id="325" r:id="rId14"/>
    <p:sldId id="327" r:id="rId15"/>
    <p:sldId id="328" r:id="rId16"/>
    <p:sldId id="329" r:id="rId17"/>
    <p:sldId id="30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461221-71B3-408D-B740-711185D749ED}">
          <p14:sldIdLst>
            <p14:sldId id="286"/>
            <p14:sldId id="330"/>
            <p14:sldId id="317"/>
            <p14:sldId id="288"/>
            <p14:sldId id="331"/>
            <p14:sldId id="319"/>
            <p14:sldId id="312"/>
            <p14:sldId id="320"/>
            <p14:sldId id="323"/>
            <p14:sldId id="325"/>
            <p14:sldId id="327"/>
            <p14:sldId id="328"/>
            <p14:sldId id="329"/>
            <p14:sldId id="308"/>
          </p14:sldIdLst>
        </p14:section>
        <p14:section name="Untitled Section" id="{B71EBAF3-E46E-4906-A0EC-98D7DCBEAEC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817"/>
    <a:srgbClr val="ECEBEA"/>
    <a:srgbClr val="908A82"/>
    <a:srgbClr val="FFFFFF"/>
    <a:srgbClr val="2B3436"/>
    <a:srgbClr val="405153"/>
    <a:srgbClr val="1D2825"/>
    <a:srgbClr val="363B3C"/>
    <a:srgbClr val="00FF00"/>
    <a:srgbClr val="E4C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0D8F4C-B892-4CE3-AA47-00E9DEAE8B4D}" v="1810" dt="2026-06-06T19:56:41.054"/>
    <p1510:client id="{F9D9E62E-BA99-4D04-95B5-6B3EE884CD92}" v="672" dt="2026-06-07T00:02:45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5A79C-8B68-7891-839A-3C9E11EC6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9A350-F86F-45DC-62D2-A05BBC0C4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329B8-4062-B452-4AA6-685D51BBC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2570B-BD71-BBAE-B87C-86244317C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17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91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6.jpe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23.png"/><Relationship Id="rId9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ayland.freedesktop.org/" TargetMode="External"/><Relationship Id="rId13" Type="http://schemas.openxmlformats.org/officeDocument/2006/relationships/hyperlink" Target="https://t4.ftcdn.net/jpg/05/54/78/89/360_F_554788951_fLAy5C8e9bha4caBTWVJN6rvTD0pEVfE.jpg" TargetMode="External"/><Relationship Id="rId3" Type="http://schemas.openxmlformats.org/officeDocument/2006/relationships/hyperlink" Target="https://ai.google.dev/edge/mediapipe/solutions/vision/hand_landmarker" TargetMode="External"/><Relationship Id="rId7" Type="http://schemas.openxmlformats.org/officeDocument/2006/relationships/hyperlink" Target="https://docs.opencv.org/" TargetMode="External"/><Relationship Id="rId12" Type="http://schemas.openxmlformats.org/officeDocument/2006/relationships/hyperlink" Target="https://t4.ftcdn.net/jpg/04/69/08/99/360_F_469089985_0fvUF52LCdDH6X6UEdoBKao7V1bVsDs7.jp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python-evdev.readthedocs.io/" TargetMode="External"/><Relationship Id="rId11" Type="http://schemas.openxmlformats.org/officeDocument/2006/relationships/hyperlink" Target="https://thumbs.dreamstime.com/b/finger-clicking-computer-mouse-11286732.jpg" TargetMode="External"/><Relationship Id="rId5" Type="http://schemas.openxmlformats.org/officeDocument/2006/relationships/hyperlink" Target="https://www.kernel.org/doc/html/latest/input/uinput.html" TargetMode="External"/><Relationship Id="rId10" Type="http://schemas.openxmlformats.org/officeDocument/2006/relationships/hyperlink" Target="https://github.com/Ma1cOS/Virtual-Air-Mouse" TargetMode="External"/><Relationship Id="rId4" Type="http://schemas.openxmlformats.org/officeDocument/2006/relationships/hyperlink" Target="https://arxiv.org/abs/2006.10214" TargetMode="External"/><Relationship Id="rId9" Type="http://schemas.openxmlformats.org/officeDocument/2006/relationships/hyperlink" Target="https://doi.org/10.1038/s41586-020-2649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232" y="2035276"/>
            <a:ext cx="10569678" cy="3676377"/>
          </a:xfrm>
        </p:spPr>
        <p:txBody>
          <a:bodyPr anchor="ctr"/>
          <a:lstStyle/>
          <a:p>
            <a:pPr algn="ctr"/>
            <a:r>
              <a:rPr lang="el-GR" sz="7200" dirty="0" err="1">
                <a:solidFill>
                  <a:srgbClr val="0A41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</a:t>
            </a:r>
            <a:r>
              <a:rPr lang="el-GR" sz="7200" dirty="0">
                <a:solidFill>
                  <a:srgbClr val="0A41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Air Mouse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F40C2-6CB1-4272-A0CF-B50088CEEAF6}"/>
              </a:ext>
            </a:extLst>
          </p:cNvPr>
          <p:cNvSpPr txBox="1"/>
          <p:nvPr/>
        </p:nvSpPr>
        <p:spPr>
          <a:xfrm>
            <a:off x="-330611" y="6462554"/>
            <a:ext cx="49403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l-GR" sz="1400">
                <a:solidFill>
                  <a:srgbClr val="333333"/>
                </a:solidFill>
              </a:rPr>
              <a:t>Τμήμα Μηχανικών Πληροφορικής και Υπολογιστών</a:t>
            </a:r>
            <a:endParaRPr lang="en-US" sz="1400">
              <a:solidFill>
                <a:srgbClr val="33333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A94DE-1209-F9D6-382C-F1B82774552A}"/>
              </a:ext>
            </a:extLst>
          </p:cNvPr>
          <p:cNvSpPr txBox="1"/>
          <p:nvPr/>
        </p:nvSpPr>
        <p:spPr>
          <a:xfrm>
            <a:off x="4060613" y="4212706"/>
            <a:ext cx="4868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800">
                <a:solidFill>
                  <a:srgbClr val="333333"/>
                </a:solidFill>
              </a:rPr>
              <a:t>Δ. Παρασκευόπουλος  |  Σ. </a:t>
            </a:r>
            <a:r>
              <a:rPr lang="el-GR" sz="1800" err="1">
                <a:solidFill>
                  <a:srgbClr val="333333"/>
                </a:solidFill>
              </a:rPr>
              <a:t>Μάκο</a:t>
            </a:r>
            <a:r>
              <a:rPr lang="el-GR" sz="1800">
                <a:solidFill>
                  <a:srgbClr val="333333"/>
                </a:solidFill>
              </a:rPr>
              <a:t>  |  Θ. </a:t>
            </a:r>
            <a:r>
              <a:rPr lang="el-GR" sz="1800" err="1">
                <a:solidFill>
                  <a:srgbClr val="333333"/>
                </a:solidFill>
              </a:rPr>
              <a:t>Τραχίλης</a:t>
            </a:r>
            <a:r>
              <a:rPr lang="el-GR" sz="1800">
                <a:solidFill>
                  <a:srgbClr val="333333"/>
                </a:solidFill>
              </a:rPr>
              <a:t>
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83978-7559-BAFE-D5F3-D647F4D44951}"/>
              </a:ext>
            </a:extLst>
          </p:cNvPr>
          <p:cNvSpPr txBox="1"/>
          <p:nvPr/>
        </p:nvSpPr>
        <p:spPr>
          <a:xfrm>
            <a:off x="9039533" y="6431777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800">
                <a:solidFill>
                  <a:srgbClr val="333333"/>
                </a:solidFill>
              </a:rPr>
              <a:t>Ακαδημαϊκό έτος 2025-2026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639EA9-43C3-1F25-2530-CEE0FEE14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335" y="56891"/>
            <a:ext cx="1030583" cy="10380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F1F129-FF39-2095-7085-967EC6EEB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9403" y="3771864"/>
            <a:ext cx="658332" cy="98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3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3AA828B-95CF-B3AB-D141-2B8E21602690}"/>
              </a:ext>
            </a:extLst>
          </p:cNvPr>
          <p:cNvGrpSpPr/>
          <p:nvPr/>
        </p:nvGrpSpPr>
        <p:grpSpPr>
          <a:xfrm>
            <a:off x="714375" y="662941"/>
            <a:ext cx="10763250" cy="716279"/>
            <a:chOff x="678180" y="243841"/>
            <a:chExt cx="10763250" cy="7162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EFA118-0463-8A67-5F0B-EC971B016262}"/>
                </a:ext>
              </a:extLst>
            </p:cNvPr>
            <p:cNvSpPr/>
            <p:nvPr/>
          </p:nvSpPr>
          <p:spPr>
            <a:xfrm>
              <a:off x="678180" y="243841"/>
              <a:ext cx="2210910" cy="694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ED81D8-02AE-3F15-2D90-79025EC2EBB8}"/>
                </a:ext>
              </a:extLst>
            </p:cNvPr>
            <p:cNvSpPr/>
            <p:nvPr/>
          </p:nvSpPr>
          <p:spPr>
            <a:xfrm>
              <a:off x="678180" y="243841"/>
              <a:ext cx="10682722" cy="716279"/>
            </a:xfrm>
            <a:prstGeom prst="rect">
              <a:avLst/>
            </a:prstGeom>
            <a:gradFill>
              <a:gsLst>
                <a:gs pos="0">
                  <a:srgbClr val="908A82">
                    <a:alpha val="85000"/>
                  </a:srgbClr>
                </a:gs>
                <a:gs pos="100000">
                  <a:srgbClr val="212B26">
                    <a:alpha val="0"/>
                  </a:srgbClr>
                </a:gs>
              </a:gsLst>
              <a:lin ang="78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DBFCDA-3D3E-1BF0-DD22-AC4CE4EDD4CF}"/>
                </a:ext>
              </a:extLst>
            </p:cNvPr>
            <p:cNvSpPr txBox="1"/>
            <p:nvPr/>
          </p:nvSpPr>
          <p:spPr>
            <a:xfrm>
              <a:off x="750570" y="243841"/>
              <a:ext cx="106908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3600" dirty="0"/>
                <a:t>Εισαγωγή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2E25CF5-94BB-23AE-C925-6E8E7B9EDDC2}"/>
              </a:ext>
            </a:extLst>
          </p:cNvPr>
          <p:cNvSpPr txBox="1"/>
          <p:nvPr/>
        </p:nvSpPr>
        <p:spPr>
          <a:xfrm>
            <a:off x="914400" y="1778000"/>
            <a:ext cx="10363200" cy="419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None/>
            </a:pPr>
            <a:r>
              <a:rPr lang="el-GR" sz="2000" b="1" dirty="0"/>
              <a:t>Το Virtual-Air-Mouse είναι ένα εικονικό ποντίκι που ελέγχεται αποκλειστικά μέσω κάμερας και χειρονομιών του χεριού.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el-GR" sz="1700" dirty="0"/>
              <a:t>Ο χρήστης κινεί το χέρι του μπροστά από την κάμερα και ο κέρσορας ακολουθεί σε πραγματικό χρόνο.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el-GR" sz="1700" dirty="0"/>
              <a:t>Τα clicks εκτελούνται με pinch gestures: ο αντίχειρας ακουμπά διαφορετικά δάχτυλα για left, right και middle click.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el-GR" sz="1700" dirty="0"/>
              <a:t>Η κάμερα τροφοδοτεί το MediaPipe, που εντοπίζει 21 σημεία στο χέρι, ενώ ένα προσαρμοστικό φίλτρο EMA εξομαλύνει την κίνηση.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l-GR" sz="1700" dirty="0"/>
              <a:t>Σχεδιασμένο για διανομές Linux με display server το Wayland.</a:t>
            </a:r>
          </a:p>
        </p:txBody>
      </p:sp>
    </p:spTree>
    <p:extLst>
      <p:ext uri="{BB962C8B-B14F-4D97-AF65-F5344CB8AC3E}">
        <p14:creationId xmlns:p14="http://schemas.microsoft.com/office/powerpoint/2010/main" val="3436714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4F01D4-D548-185D-0910-E04A74502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936" y="2536297"/>
            <a:ext cx="5342112" cy="486237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5DB27-F2C9-4933-9375-F780718E5B43}"/>
              </a:ext>
            </a:extLst>
          </p:cNvPr>
          <p:cNvSpPr txBox="1"/>
          <p:nvPr/>
        </p:nvSpPr>
        <p:spPr>
          <a:xfrm>
            <a:off x="386899" y="1953269"/>
            <a:ext cx="4253147" cy="308863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overflow" vert="horz" wrap="square" rtlCol="0" anchor="t">
            <a:normAutofit/>
          </a:bodyPr>
          <a:lstStyle/>
          <a:p>
            <a:pPr algn="ctr">
              <a:buNone/>
            </a:pPr>
            <a:r>
              <a:rPr lang="el-GR" sz="3200" b="1" dirty="0" err="1">
                <a:solidFill>
                  <a:srgbClr val="FF0000"/>
                </a:solidFill>
              </a:rPr>
              <a:t>Wayland</a:t>
            </a:r>
            <a:r>
              <a:rPr lang="en-US" sz="3200" b="1" dirty="0">
                <a:solidFill>
                  <a:srgbClr val="FF0000"/>
                </a:solidFill>
              </a:rPr>
              <a:t>?</a:t>
            </a:r>
            <a:endParaRPr lang="el-GR" sz="32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l-GR" sz="2000" dirty="0"/>
              <a:t> </a:t>
            </a:r>
          </a:p>
          <a:p>
            <a:r>
              <a:rPr lang="el-GR" sz="1600" dirty="0" err="1"/>
              <a:t>Wayland</a:t>
            </a:r>
            <a:r>
              <a:rPr lang="el-GR" sz="1600" dirty="0"/>
              <a:t> δεν επιτρέπει σε εφαρμογές να μετακινήσουν τον κέρσορα. Οι βιβλιοθήκες αυτοματισμού αποτυγχάνουν.</a:t>
            </a:r>
            <a:br>
              <a:rPr lang="el-GR" sz="1600" dirty="0"/>
            </a:br>
            <a:br>
              <a:rPr lang="el-GR" sz="1600" dirty="0"/>
            </a:br>
            <a:r>
              <a:rPr lang="el-GR" sz="1600" b="1" dirty="0"/>
              <a:t>Λύση:</a:t>
            </a:r>
            <a:r>
              <a:rPr lang="el-GR" sz="1600" dirty="0"/>
              <a:t> </a:t>
            </a:r>
            <a:r>
              <a:rPr lang="el-GR" sz="1600" dirty="0" err="1"/>
              <a:t>uinput</a:t>
            </a:r>
            <a:r>
              <a:rPr lang="el-GR" sz="1600" dirty="0"/>
              <a:t> (</a:t>
            </a:r>
            <a:r>
              <a:rPr lang="el-GR" sz="1600" dirty="0" err="1"/>
              <a:t>kernel</a:t>
            </a:r>
            <a:r>
              <a:rPr lang="el-GR" sz="1600" dirty="0"/>
              <a:t> </a:t>
            </a:r>
            <a:r>
              <a:rPr lang="el-GR" sz="1600" dirty="0" err="1"/>
              <a:t>module</a:t>
            </a:r>
            <a:r>
              <a:rPr lang="el-GR" sz="1600" dirty="0"/>
              <a:t>) για εικονικές συσκευές εισόδου.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9893DD-2180-4B71-A534-382279DD27EE}"/>
              </a:ext>
            </a:extLst>
          </p:cNvPr>
          <p:cNvSpPr txBox="1"/>
          <p:nvPr/>
        </p:nvSpPr>
        <p:spPr>
          <a:xfrm>
            <a:off x="7264850" y="1953269"/>
            <a:ext cx="4540251" cy="30886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overflow" vert="horz" wrap="square" rtlCol="0" anchor="t">
            <a:normAutofit fontScale="77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l-GR" sz="3200" b="1" dirty="0">
                <a:solidFill>
                  <a:srgbClr val="FF0000"/>
                </a:solidFill>
              </a:rPr>
              <a:t>Γιατί REL αντί ABS</a:t>
            </a:r>
          </a:p>
          <a:p>
            <a:pPr>
              <a:lnSpc>
                <a:spcPct val="120000"/>
              </a:lnSpc>
              <a:buNone/>
            </a:pPr>
            <a:r>
              <a:rPr lang="el-GR" sz="2000" dirty="0"/>
              <a:t> </a:t>
            </a:r>
          </a:p>
          <a:p>
            <a:pPr>
              <a:lnSpc>
                <a:spcPct val="120000"/>
              </a:lnSpc>
              <a:buNone/>
            </a:pPr>
            <a:r>
              <a:rPr lang="el-GR" sz="2000" b="1" dirty="0"/>
              <a:t>ABS θα απαιτούσε: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l-GR" sz="2000" dirty="0" err="1"/>
              <a:t>Stretching</a:t>
            </a:r>
            <a:r>
              <a:rPr lang="el-GR" sz="2000" dirty="0"/>
              <a:t> κάμερας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l-GR" sz="2000" dirty="0"/>
              <a:t>Αντιστοίχιση </a:t>
            </a:r>
            <a:r>
              <a:rPr lang="el-GR" sz="2000" dirty="0" err="1"/>
              <a:t>pixel</a:t>
            </a:r>
            <a:r>
              <a:rPr lang="el-GR" sz="2000" dirty="0"/>
              <a:t> κάμερας ↔ οθόνης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l-GR" sz="2000" dirty="0" err="1"/>
              <a:t>Calibration</a:t>
            </a:r>
            <a:r>
              <a:rPr lang="el-GR" sz="2000" dirty="0"/>
              <a:t> πριν από κάθε χρήση</a:t>
            </a:r>
          </a:p>
          <a:p>
            <a:pPr>
              <a:lnSpc>
                <a:spcPct val="120000"/>
              </a:lnSpc>
              <a:buNone/>
            </a:pPr>
            <a:r>
              <a:rPr lang="el-GR" sz="2000" dirty="0"/>
              <a:t> </a:t>
            </a:r>
          </a:p>
          <a:p>
            <a:pPr>
              <a:lnSpc>
                <a:spcPct val="120000"/>
              </a:lnSpc>
              <a:buNone/>
            </a:pPr>
            <a:r>
              <a:rPr lang="el-GR" sz="2000" b="1" dirty="0"/>
              <a:t>REL προσέγγιση: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l-GR" sz="2000" dirty="0"/>
              <a:t>Πιο απλή υλοποίηση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l-GR" sz="2000" dirty="0"/>
              <a:t>Λιγότερο υπολογιστικά </a:t>
            </a:r>
            <a:r>
              <a:rPr lang="el-GR" sz="2000" dirty="0" err="1"/>
              <a:t>κοστοβόρα</a:t>
            </a:r>
            <a:endParaRPr lang="el-GR" sz="2000" dirty="0"/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l-GR" sz="2000" dirty="0"/>
              <a:t>Χωρίς </a:t>
            </a:r>
            <a:r>
              <a:rPr lang="el-GR" sz="2000" dirty="0" err="1"/>
              <a:t>calibration</a:t>
            </a:r>
            <a:r>
              <a:rPr lang="el-GR" sz="2000" dirty="0"/>
              <a:t>/αντιστοίχιση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F5F1873-04E7-9871-E5BF-AF6E2F8DA482}"/>
              </a:ext>
            </a:extLst>
          </p:cNvPr>
          <p:cNvGrpSpPr/>
          <p:nvPr/>
        </p:nvGrpSpPr>
        <p:grpSpPr>
          <a:xfrm>
            <a:off x="714375" y="490623"/>
            <a:ext cx="10763250" cy="716279"/>
            <a:chOff x="678180" y="243841"/>
            <a:chExt cx="10763250" cy="71627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947EB-0080-D963-016D-5DB5E1487467}"/>
                </a:ext>
              </a:extLst>
            </p:cNvPr>
            <p:cNvSpPr/>
            <p:nvPr/>
          </p:nvSpPr>
          <p:spPr>
            <a:xfrm>
              <a:off x="678180" y="243841"/>
              <a:ext cx="2210910" cy="694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72EA0A-94DA-9DEC-2014-C5476DA25CE4}"/>
                </a:ext>
              </a:extLst>
            </p:cNvPr>
            <p:cNvSpPr/>
            <p:nvPr/>
          </p:nvSpPr>
          <p:spPr>
            <a:xfrm>
              <a:off x="678180" y="243841"/>
              <a:ext cx="10682722" cy="716279"/>
            </a:xfrm>
            <a:prstGeom prst="rect">
              <a:avLst/>
            </a:prstGeom>
            <a:gradFill>
              <a:gsLst>
                <a:gs pos="0">
                  <a:srgbClr val="908A82">
                    <a:alpha val="85000"/>
                  </a:srgbClr>
                </a:gs>
                <a:gs pos="100000">
                  <a:srgbClr val="212B26">
                    <a:alpha val="0"/>
                  </a:srgbClr>
                </a:gs>
              </a:gsLst>
              <a:lin ang="78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C358CE-2610-EDC3-CA2B-5018EA968827}"/>
                </a:ext>
              </a:extLst>
            </p:cNvPr>
            <p:cNvSpPr txBox="1"/>
            <p:nvPr/>
          </p:nvSpPr>
          <p:spPr>
            <a:xfrm>
              <a:off x="750570" y="243841"/>
              <a:ext cx="106908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3600" dirty="0"/>
                <a:t>Προβληματισμοί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109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C7E4413-6548-B292-420C-7582A37B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1DAD0C0F-1B51-E970-F114-3811DDF65680}"/>
              </a:ext>
            </a:extLst>
          </p:cNvPr>
          <p:cNvCxnSpPr>
            <a:cxnSpLocks/>
          </p:cNvCxnSpPr>
          <p:nvPr/>
        </p:nvCxnSpPr>
        <p:spPr>
          <a:xfrm flipV="1">
            <a:off x="10045959" y="2606351"/>
            <a:ext cx="1071984" cy="2631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7E9C36-3AEC-86A6-BA48-333AFB8D049C}"/>
              </a:ext>
            </a:extLst>
          </p:cNvPr>
          <p:cNvGrpSpPr/>
          <p:nvPr/>
        </p:nvGrpSpPr>
        <p:grpSpPr>
          <a:xfrm>
            <a:off x="714375" y="662941"/>
            <a:ext cx="10763250" cy="716279"/>
            <a:chOff x="678180" y="243841"/>
            <a:chExt cx="10763250" cy="71627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6D3693-F5AB-771B-B9BA-97E450F7B4D6}"/>
                </a:ext>
              </a:extLst>
            </p:cNvPr>
            <p:cNvSpPr/>
            <p:nvPr/>
          </p:nvSpPr>
          <p:spPr>
            <a:xfrm>
              <a:off x="678180" y="243841"/>
              <a:ext cx="2210910" cy="694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C775C4E-C701-E25D-D823-F241FCD8F1E4}"/>
                </a:ext>
              </a:extLst>
            </p:cNvPr>
            <p:cNvSpPr/>
            <p:nvPr/>
          </p:nvSpPr>
          <p:spPr>
            <a:xfrm>
              <a:off x="678180" y="243841"/>
              <a:ext cx="10682722" cy="716279"/>
            </a:xfrm>
            <a:prstGeom prst="rect">
              <a:avLst/>
            </a:prstGeom>
            <a:gradFill>
              <a:gsLst>
                <a:gs pos="0">
                  <a:srgbClr val="908A82">
                    <a:alpha val="85000"/>
                  </a:srgbClr>
                </a:gs>
                <a:gs pos="100000">
                  <a:srgbClr val="212B26">
                    <a:alpha val="0"/>
                  </a:srgbClr>
                </a:gs>
              </a:gsLst>
              <a:lin ang="78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450C7E-34CA-2F82-305C-3BF6B4DBFEC6}"/>
                </a:ext>
              </a:extLst>
            </p:cNvPr>
            <p:cNvSpPr txBox="1"/>
            <p:nvPr/>
          </p:nvSpPr>
          <p:spPr>
            <a:xfrm>
              <a:off x="750570" y="243841"/>
              <a:ext cx="106908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Pipeline</a:t>
              </a:r>
              <a:endParaRPr lang="el-GR" sz="3600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1B55881-E912-E6FB-7011-340F782FEF40}"/>
              </a:ext>
            </a:extLst>
          </p:cNvPr>
          <p:cNvSpPr txBox="1"/>
          <p:nvPr/>
        </p:nvSpPr>
        <p:spPr>
          <a:xfrm>
            <a:off x="714375" y="3921967"/>
            <a:ext cx="7117080" cy="2537554"/>
          </a:xfrm>
          <a:prstGeom prst="rect">
            <a:avLst/>
          </a:prstGeom>
          <a:ln w="28575">
            <a:solidFill>
              <a:srgbClr val="151817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Η </a:t>
            </a:r>
            <a:r>
              <a:rPr lang="en-US" dirty="0" err="1"/>
              <a:t>κάμερ</a:t>
            </a:r>
            <a:r>
              <a:rPr lang="en-US" dirty="0"/>
              <a:t>α τροφοδοτεί το MediaPipe → 21 landmarks ανά frame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Το</a:t>
            </a:r>
            <a:r>
              <a:rPr lang="en-US" dirty="0"/>
              <a:t> EMA φίλτρο αφαιρεί τον θόρυβο, το adaptive α παγώνει τον κέρσορα όταν το χέρι είναι ακίνητο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Τα pinch gestures εντοπίζονται από custom μηχανή καταστάσεων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Ο kernel παραδίδει τα events στο Wayland σαν κανονικό π</a:t>
            </a:r>
            <a:r>
              <a:rPr lang="en-US" dirty="0" err="1"/>
              <a:t>οντίκι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Το</a:t>
            </a:r>
            <a:r>
              <a:rPr lang="en-US" dirty="0"/>
              <a:t> εικονικό και το φυσικό ποντίκι συνυπάρχουν χωρίς παρεμβολές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9507C72-CFD4-70CB-0C3E-E06A70BD5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978541" y="1906759"/>
            <a:ext cx="4134836" cy="463215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DFCE462-9B68-497B-D461-1D0B0897A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572282"/>
            <a:ext cx="9658975" cy="220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90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7240" y="1974040"/>
            <a:ext cx="10473661" cy="783908"/>
          </a:xfrm>
        </p:spPr>
        <p:txBody>
          <a:bodyPr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l-GR" dirty="0"/>
              <a:t>Εντοπίζει 21 σημεία (</a:t>
            </a:r>
            <a:r>
              <a:rPr lang="el-GR" dirty="0" err="1"/>
              <a:t>landmarks</a:t>
            </a:r>
            <a:r>
              <a:rPr lang="el-GR" dirty="0"/>
              <a:t>) στο χέρι</a:t>
            </a:r>
            <a:r>
              <a:rPr lang="en-US" dirty="0"/>
              <a:t>:</a:t>
            </a:r>
            <a:r>
              <a:rPr lang="el-GR" dirty="0"/>
              <a:t> </a:t>
            </a:r>
            <a:r>
              <a:rPr lang="el-GR" b="0" dirty="0"/>
              <a:t>4 ανά δάχτυλο + βάση παλάμης</a:t>
            </a:r>
            <a:r>
              <a:rPr lang="el-GR" dirty="0"/>
              <a:t>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44A244-EBD0-9269-C8C6-C75789895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486" y="2828002"/>
            <a:ext cx="4943016" cy="32953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F251FC-C021-4722-B64A-830525352513}"/>
              </a:ext>
            </a:extLst>
          </p:cNvPr>
          <p:cNvSpPr txBox="1"/>
          <p:nvPr/>
        </p:nvSpPr>
        <p:spPr>
          <a:xfrm>
            <a:off x="6033251" y="2768600"/>
            <a:ext cx="5080000" cy="342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 lnSpcReduction="10000"/>
          </a:bodyPr>
          <a:lstStyle/>
          <a:p>
            <a:pPr>
              <a:buNone/>
            </a:pPr>
            <a:r>
              <a:rPr lang="el-GR" sz="1600" b="1" dirty="0" err="1"/>
              <a:t>MediaPipe</a:t>
            </a:r>
            <a:r>
              <a:rPr lang="el-GR" sz="1600" b="1" dirty="0"/>
              <a:t> </a:t>
            </a:r>
            <a:r>
              <a:rPr lang="el-GR" sz="1600" b="1" dirty="0" err="1"/>
              <a:t>Tasks</a:t>
            </a:r>
            <a:r>
              <a:rPr lang="el-GR" sz="1600" b="1" dirty="0"/>
              <a:t> API</a:t>
            </a:r>
          </a:p>
          <a:p>
            <a:pPr>
              <a:buNone/>
            </a:pPr>
            <a:r>
              <a:rPr lang="el-GR" sz="1400" dirty="0"/>
              <a:t> </a:t>
            </a:r>
          </a:p>
          <a:p>
            <a:pPr>
              <a:buNone/>
            </a:pPr>
            <a:r>
              <a:rPr lang="el-GR" sz="1400" dirty="0"/>
              <a:t>Χρησιμοποιούμε το νεότερο </a:t>
            </a:r>
            <a:r>
              <a:rPr lang="en-US" sz="1400" b="1" dirty="0" err="1">
                <a:latin typeface="Consolas"/>
              </a:rPr>
              <a:t>mediapipe.tasks</a:t>
            </a:r>
            <a:r>
              <a:rPr lang="el-GR" sz="1400" dirty="0"/>
              <a:t> API με </a:t>
            </a:r>
            <a:r>
              <a:rPr lang="en-US" sz="1400" b="1" dirty="0">
                <a:latin typeface="Consolas"/>
              </a:rPr>
              <a:t>.task</a:t>
            </a:r>
            <a:r>
              <a:rPr lang="el-GR" sz="1400" dirty="0"/>
              <a:t> </a:t>
            </a:r>
            <a:r>
              <a:rPr lang="el-GR" sz="1400" dirty="0" err="1"/>
              <a:t>model</a:t>
            </a:r>
            <a:r>
              <a:rPr lang="el-GR" sz="1400" dirty="0"/>
              <a:t> </a:t>
            </a:r>
            <a:r>
              <a:rPr lang="el-GR" sz="1400" dirty="0" err="1"/>
              <a:t>bundles</a:t>
            </a:r>
            <a:r>
              <a:rPr lang="el-GR" sz="1400" dirty="0"/>
              <a:t>.</a:t>
            </a:r>
          </a:p>
          <a:p>
            <a:pPr>
              <a:buNone/>
            </a:pPr>
            <a:r>
              <a:rPr lang="el-GR" sz="1400" dirty="0"/>
              <a:t> </a:t>
            </a:r>
          </a:p>
          <a:p>
            <a:pPr>
              <a:buNone/>
            </a:pPr>
            <a:r>
              <a:rPr lang="en-US" sz="1400" b="1" dirty="0" err="1">
                <a:latin typeface="Consolas"/>
              </a:rPr>
              <a:t>hand_landmarker.task</a:t>
            </a:r>
            <a:endParaRPr lang="en-US" sz="1400" b="1" dirty="0">
              <a:latin typeface="Consolas"/>
            </a:endParaRPr>
          </a:p>
          <a:p>
            <a:pPr marL="228600" indent="-228600">
              <a:buFont typeface="Arial"/>
              <a:buChar char="•"/>
            </a:pPr>
            <a:r>
              <a:rPr lang="el-GR" sz="1400" dirty="0" err="1"/>
              <a:t>Model</a:t>
            </a:r>
            <a:r>
              <a:rPr lang="el-GR" sz="1400" dirty="0"/>
              <a:t> </a:t>
            </a:r>
            <a:r>
              <a:rPr lang="el-GR" sz="1400" dirty="0" err="1"/>
              <a:t>bundle</a:t>
            </a:r>
            <a:r>
              <a:rPr lang="el-GR" sz="1400" dirty="0"/>
              <a:t>: </a:t>
            </a:r>
            <a:r>
              <a:rPr lang="el-GR" sz="1400" dirty="0" err="1"/>
              <a:t>palm</a:t>
            </a:r>
            <a:r>
              <a:rPr lang="el-GR" sz="1400" dirty="0"/>
              <a:t> </a:t>
            </a:r>
            <a:r>
              <a:rPr lang="el-GR" sz="1400" dirty="0" err="1"/>
              <a:t>detection</a:t>
            </a:r>
            <a:r>
              <a:rPr lang="el-GR" sz="1400" dirty="0"/>
              <a:t> + </a:t>
            </a:r>
            <a:r>
              <a:rPr lang="el-GR" sz="1400" dirty="0" err="1"/>
              <a:t>hand</a:t>
            </a:r>
            <a:r>
              <a:rPr lang="el-GR" sz="1400" dirty="0"/>
              <a:t> </a:t>
            </a:r>
            <a:r>
              <a:rPr lang="el-GR" sz="1400" dirty="0" err="1"/>
              <a:t>landmarks</a:t>
            </a:r>
            <a:r>
              <a:rPr lang="el-GR" sz="1400" dirty="0"/>
              <a:t> σε ένα αρχείο</a:t>
            </a:r>
          </a:p>
          <a:p>
            <a:pPr marL="228600" indent="-228600">
              <a:buFont typeface="Arial"/>
              <a:buChar char="•"/>
            </a:pPr>
            <a:r>
              <a:rPr lang="el-GR" sz="1400" dirty="0"/>
              <a:t>Αντικαθιστά το παλαιότερο </a:t>
            </a:r>
            <a:r>
              <a:rPr lang="en-US" sz="1400" dirty="0" err="1">
                <a:latin typeface="Consolas"/>
              </a:rPr>
              <a:t>mediapipe.solutions.hands</a:t>
            </a:r>
            <a:endParaRPr lang="en-US" sz="1400" dirty="0">
              <a:latin typeface="Consolas"/>
            </a:endParaRPr>
          </a:p>
          <a:p>
            <a:pPr marL="228600" indent="-228600">
              <a:buFont typeface="Arial"/>
              <a:buChar char="•"/>
            </a:pPr>
            <a:r>
              <a:rPr lang="el-GR" sz="1400" dirty="0" err="1"/>
              <a:t>Video</a:t>
            </a:r>
            <a:r>
              <a:rPr lang="el-GR" sz="1400" dirty="0"/>
              <a:t> </a:t>
            </a:r>
            <a:r>
              <a:rPr lang="el-GR" sz="1400" dirty="0" err="1"/>
              <a:t>mode</a:t>
            </a:r>
            <a:r>
              <a:rPr lang="el-GR" sz="1400" dirty="0"/>
              <a:t>: </a:t>
            </a:r>
            <a:r>
              <a:rPr lang="el-GR" sz="1400" dirty="0" err="1"/>
              <a:t>tracking</a:t>
            </a:r>
            <a:r>
              <a:rPr lang="el-GR" sz="1400" dirty="0"/>
              <a:t> μεταξύ </a:t>
            </a:r>
            <a:r>
              <a:rPr lang="el-GR" sz="1400" dirty="0" err="1"/>
              <a:t>frames</a:t>
            </a:r>
            <a:r>
              <a:rPr lang="en-US" sz="1400" dirty="0"/>
              <a:t>,</a:t>
            </a:r>
            <a:r>
              <a:rPr lang="el-GR" sz="1400" dirty="0"/>
              <a:t> μειωμένο </a:t>
            </a:r>
            <a:r>
              <a:rPr lang="el-GR" sz="1400" dirty="0" err="1"/>
              <a:t>latency</a:t>
            </a:r>
            <a:endParaRPr lang="el-GR" sz="1400" dirty="0"/>
          </a:p>
          <a:p>
            <a:pPr>
              <a:buNone/>
            </a:pPr>
            <a:r>
              <a:rPr lang="el-GR" sz="1400" dirty="0"/>
              <a:t> </a:t>
            </a:r>
          </a:p>
          <a:p>
            <a:pPr>
              <a:buNone/>
            </a:pPr>
            <a:r>
              <a:rPr lang="el-GR" sz="1600" b="1" dirty="0" err="1"/>
              <a:t>Output</a:t>
            </a:r>
          </a:p>
          <a:p>
            <a:pPr marL="228600" indent="-228600">
              <a:buFont typeface="Arial"/>
              <a:buChar char="•"/>
            </a:pPr>
            <a:r>
              <a:rPr lang="el-GR" sz="1400" dirty="0"/>
              <a:t>Για κάθε ένα από τα 21 </a:t>
            </a:r>
            <a:r>
              <a:rPr lang="el-GR" sz="1400" dirty="0" err="1"/>
              <a:t>landmarks</a:t>
            </a:r>
            <a:r>
              <a:rPr lang="el-GR" sz="1400" dirty="0"/>
              <a:t> επιστρέφει μια λίστα συντεταγμένων </a:t>
            </a:r>
            <a:r>
              <a:rPr lang="en-US" sz="1400" b="1" dirty="0">
                <a:latin typeface="Consolas"/>
              </a:rPr>
              <a:t>(x, y, z)</a:t>
            </a:r>
          </a:p>
          <a:p>
            <a:pPr marL="228600" indent="-228600">
              <a:buFont typeface="Arial"/>
              <a:buChar char="•"/>
            </a:pPr>
            <a:r>
              <a:rPr lang="en-US" sz="1400" b="1" dirty="0">
                <a:latin typeface="Consolas"/>
              </a:rPr>
              <a:t>x, y</a:t>
            </a:r>
            <a:r>
              <a:rPr lang="el-GR" sz="1400" dirty="0"/>
              <a:t>: κανονικοποιημένα στο [0,1] ως προς πλάτος/ύψος εικόνας</a:t>
            </a:r>
          </a:p>
          <a:p>
            <a:pPr marL="228600" indent="-228600">
              <a:buFont typeface="Arial"/>
              <a:buChar char="•"/>
            </a:pPr>
            <a:r>
              <a:rPr lang="en-US" sz="1400" b="1" dirty="0">
                <a:latin typeface="Consolas"/>
              </a:rPr>
              <a:t>z</a:t>
            </a:r>
            <a:r>
              <a:rPr lang="el-GR" sz="1400" dirty="0"/>
              <a:t>: σχετικό βάθος ως προς τον καρπό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EC917E-2967-9686-DD43-0EECC8897026}"/>
              </a:ext>
            </a:extLst>
          </p:cNvPr>
          <p:cNvGrpSpPr/>
          <p:nvPr/>
        </p:nvGrpSpPr>
        <p:grpSpPr>
          <a:xfrm>
            <a:off x="714375" y="662941"/>
            <a:ext cx="10763250" cy="716279"/>
            <a:chOff x="678180" y="243841"/>
            <a:chExt cx="10763250" cy="7162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68E2D1-014E-6CF4-8947-1FA7BC9F0FEA}"/>
                </a:ext>
              </a:extLst>
            </p:cNvPr>
            <p:cNvSpPr/>
            <p:nvPr/>
          </p:nvSpPr>
          <p:spPr>
            <a:xfrm>
              <a:off x="678180" y="243841"/>
              <a:ext cx="2210910" cy="694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1092E9-7C5F-8189-1A1D-29DDB2E3F920}"/>
                </a:ext>
              </a:extLst>
            </p:cNvPr>
            <p:cNvSpPr/>
            <p:nvPr/>
          </p:nvSpPr>
          <p:spPr>
            <a:xfrm>
              <a:off x="678180" y="243841"/>
              <a:ext cx="10682722" cy="716279"/>
            </a:xfrm>
            <a:prstGeom prst="rect">
              <a:avLst/>
            </a:prstGeom>
            <a:gradFill>
              <a:gsLst>
                <a:gs pos="0">
                  <a:srgbClr val="908A82">
                    <a:alpha val="85000"/>
                  </a:srgbClr>
                </a:gs>
                <a:gs pos="100000">
                  <a:srgbClr val="212B26">
                    <a:alpha val="0"/>
                  </a:srgbClr>
                </a:gs>
              </a:gsLst>
              <a:lin ang="78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3AB19F-F66B-4FF6-089E-EE0A051FCEDF}"/>
                </a:ext>
              </a:extLst>
            </p:cNvPr>
            <p:cNvSpPr txBox="1"/>
            <p:nvPr/>
          </p:nvSpPr>
          <p:spPr>
            <a:xfrm>
              <a:off x="750570" y="243841"/>
              <a:ext cx="106908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3600" dirty="0" err="1"/>
                <a:t>MediaPipe</a:t>
              </a:r>
              <a:r>
                <a:rPr lang="el-GR" sz="3600" dirty="0"/>
                <a:t>: </a:t>
              </a:r>
              <a:r>
                <a:rPr lang="el-GR" sz="3600" dirty="0" err="1"/>
                <a:t>Hand</a:t>
              </a:r>
              <a:r>
                <a:rPr lang="el-GR" sz="3600" dirty="0"/>
                <a:t> </a:t>
              </a:r>
              <a:r>
                <a:rPr lang="el-GR" sz="3600" dirty="0" err="1"/>
                <a:t>Landmark</a:t>
              </a:r>
              <a:r>
                <a:rPr lang="el-GR" sz="3600" dirty="0"/>
                <a:t> </a:t>
              </a:r>
              <a:r>
                <a:rPr lang="el-GR" sz="3600" dirty="0" err="1"/>
                <a:t>Detection</a:t>
              </a:r>
              <a:endParaRPr lang="el-GR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82275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F27A9-F6AC-A467-51A0-C6EA96BFA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823F0A78-2B41-EEFF-637C-71F55811B5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A55D52-C287-99B3-292B-A58A83A616E7}"/>
              </a:ext>
            </a:extLst>
          </p:cNvPr>
          <p:cNvSpPr txBox="1"/>
          <p:nvPr/>
        </p:nvSpPr>
        <p:spPr>
          <a:xfrm>
            <a:off x="5313082" y="1894382"/>
            <a:ext cx="6182513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Aft>
                <a:spcPts val="400"/>
              </a:spcAft>
              <a:buNone/>
            </a:pPr>
            <a:r>
              <a:rPr lang="el-G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Πώς οι συντεταγμένες μεταφράζονται σε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l-G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της κάμερας;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Aft>
                <a:spcPts val="400"/>
              </a:spcAft>
              <a:buNone/>
            </a:pPr>
            <a:r>
              <a:rPr lang="el-G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Η αντιστοίχιση των συντεταγμένων σε πραγματικά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pixels</a:t>
            </a:r>
            <a:r>
              <a:rPr lang="el-G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γίνεται πολλαπλασιάζοντας την </a:t>
            </a:r>
            <a:r>
              <a:rPr lang="el-G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κανονικοποιημένη</a:t>
            </a:r>
            <a:r>
              <a:rPr lang="el-G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τιμή με την αντίστοιχη διάσταση της ανάλυσης. 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l-G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Τελικά παίρνουμε το ακέραιο μέρος. Αγνοούμε το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l-G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καθώς η κίνηση του κέρσορα γίνετε σε δισδιάστατο χώρο.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B067B57-7BB3-D693-2FE3-6E09A0CF9E43}"/>
                  </a:ext>
                </a:extLst>
              </p:cNvPr>
              <p:cNvSpPr txBox="1"/>
              <p:nvPr/>
            </p:nvSpPr>
            <p:spPr>
              <a:xfrm>
                <a:off x="5313082" y="3978050"/>
                <a:ext cx="6252401" cy="1917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Aft>
                    <a:spcPts val="400"/>
                  </a:spcAft>
                  <a:buNone/>
                </a:pPr>
                <a:r>
                  <a:rPr lang="el-GR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Για παράδειγμα</a:t>
                </a:r>
                <a:endParaRPr lang="en-US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algn="just">
                  <a:spcAft>
                    <a:spcPts val="400"/>
                  </a:spcAft>
                  <a:buNone/>
                </a:pPr>
                <a:r>
                  <a:rPr lang="el-GR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Έστω τις αρχικές συντεταγμένες </a:t>
                </a:r>
                <a:r>
                  <a:rPr lang="en-US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el-GR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0.318</a:t>
                </a:r>
                <a:r>
                  <a:rPr lang="el-GR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l-GR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0.5 </a:t>
                </a:r>
                <a:r>
                  <a:rPr lang="el-GR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και διαστάσεις κάμερας</a:t>
                </a:r>
                <a:r>
                  <a:rPr lang="el-GR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640</a:t>
                </a:r>
                <a:r>
                  <a:rPr lang="en-US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el-GR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480.</a:t>
                </a:r>
                <a:endParaRPr lang="en-US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algn="just">
                  <a:spcAft>
                    <a:spcPts val="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</a:rPr>
                                <m:t>raw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int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(0.318·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𝑊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)=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int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(0.318·640)=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int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(203.52)=203</m:t>
                          </m:r>
                        </m:e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</a:rPr>
                                <m:t>raw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int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(0.500·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)=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int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(0.500·480)=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int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(240.00)=240</m:t>
                          </m:r>
                        </m:e>
                      </m:eqArr>
                    </m:oMath>
                  </m:oMathPara>
                </a14:m>
                <a:endParaRPr lang="en-US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algn="just">
                  <a:spcAft>
                    <a:spcPts val="400"/>
                  </a:spcAft>
                  <a:buNone/>
                </a:pPr>
                <a:r>
                  <a:rPr lang="el-GR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Άρα το </a:t>
                </a:r>
                <a:r>
                  <a:rPr lang="el-GR" sz="1800" b="1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pixel</a:t>
                </a:r>
                <a:r>
                  <a:rPr lang="el-GR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πού αντιστοιχεί είναι το (203,240).</a:t>
                </a:r>
                <a:endParaRPr lang="en-US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B067B57-7BB3-D693-2FE3-6E09A0CF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082" y="3978050"/>
                <a:ext cx="6252401" cy="1917897"/>
              </a:xfrm>
              <a:prstGeom prst="rect">
                <a:avLst/>
              </a:prstGeom>
              <a:blipFill>
                <a:blip r:embed="rId4"/>
                <a:stretch>
                  <a:fillRect l="-878" t="-1911" r="-878" b="-4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78F366AC-8E19-D3E7-4C78-BAD4F2A129C7}"/>
              </a:ext>
            </a:extLst>
          </p:cNvPr>
          <p:cNvGrpSpPr/>
          <p:nvPr/>
        </p:nvGrpSpPr>
        <p:grpSpPr>
          <a:xfrm>
            <a:off x="1870743" y="807584"/>
            <a:ext cx="8450513" cy="716279"/>
            <a:chOff x="678180" y="243841"/>
            <a:chExt cx="11052546" cy="71627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823D2C-BB8B-5D29-C22F-C69FFCCD3983}"/>
                </a:ext>
              </a:extLst>
            </p:cNvPr>
            <p:cNvSpPr/>
            <p:nvPr/>
          </p:nvSpPr>
          <p:spPr>
            <a:xfrm>
              <a:off x="678180" y="243841"/>
              <a:ext cx="2210910" cy="694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13E407-5174-6B05-5046-E72EEDB3BF57}"/>
                </a:ext>
              </a:extLst>
            </p:cNvPr>
            <p:cNvSpPr/>
            <p:nvPr/>
          </p:nvSpPr>
          <p:spPr>
            <a:xfrm>
              <a:off x="678180" y="243841"/>
              <a:ext cx="10682722" cy="716279"/>
            </a:xfrm>
            <a:prstGeom prst="rect">
              <a:avLst/>
            </a:prstGeom>
            <a:gradFill>
              <a:gsLst>
                <a:gs pos="0">
                  <a:srgbClr val="908A82">
                    <a:alpha val="85000"/>
                  </a:srgbClr>
                </a:gs>
                <a:gs pos="100000">
                  <a:srgbClr val="212B26">
                    <a:alpha val="0"/>
                  </a:srgbClr>
                </a:gs>
              </a:gsLst>
              <a:lin ang="78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50279C-30AB-DA43-F082-99A53EE3929E}"/>
                </a:ext>
              </a:extLst>
            </p:cNvPr>
            <p:cNvSpPr txBox="1"/>
            <p:nvPr/>
          </p:nvSpPr>
          <p:spPr>
            <a:xfrm>
              <a:off x="722768" y="321300"/>
              <a:ext cx="110079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800" dirty="0"/>
                <a:t>Μετατροπή</a:t>
              </a:r>
              <a:r>
                <a:rPr lang="en-US" sz="2800" dirty="0"/>
                <a:t>: Landmark(X,Y,Z) </a:t>
              </a:r>
              <a:r>
                <a:rPr lang="el-GR" sz="2800" dirty="0"/>
                <a:t>→</a:t>
              </a:r>
              <a:r>
                <a:rPr lang="en-US" sz="2800" dirty="0"/>
                <a:t> camera pixel (X,Y) </a:t>
              </a:r>
              <a:endParaRPr lang="el-GR" sz="2800" dirty="0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F8C90CFB-3941-7058-3556-72324FC24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38676" y="807584"/>
            <a:ext cx="799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579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461583" y="1406861"/>
            <a:ext cx="6074838" cy="1865672"/>
          </a:xfrm>
        </p:spPr>
        <p:txBody>
          <a:bodyPr>
            <a:noAutofit/>
          </a:bodyPr>
          <a:lstStyle/>
          <a:p>
            <a:r>
              <a:rPr lang="el-GR" dirty="0"/>
              <a:t>Αναδρομικό φίλτρο εξομάλυνσης για σταθμισμένο μέσο όρο μεταξύ τρέχουσας μέτρησης και προηγούμενης εξομαλυμένης τιμής.</a:t>
            </a:r>
          </a:p>
          <a:p>
            <a:pPr>
              <a:buNone/>
            </a:pPr>
            <a:r>
              <a:rPr lang="el-GR" sz="2400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40C991-5687-4C50-8BBE-602FCC1CD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327286"/>
              </p:ext>
            </p:extLst>
          </p:nvPr>
        </p:nvGraphicFramePr>
        <p:xfrm>
          <a:off x="5895128" y="3839081"/>
          <a:ext cx="5207748" cy="1950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2199">
                  <a:extLst>
                    <a:ext uri="{9D8B030D-6E8A-4147-A177-3AD203B41FA5}">
                      <a16:colId xmlns:a16="http://schemas.microsoft.com/office/drawing/2014/main" val="4197588539"/>
                    </a:ext>
                  </a:extLst>
                </a:gridCol>
                <a:gridCol w="3885549">
                  <a:extLst>
                    <a:ext uri="{9D8B030D-6E8A-4147-A177-3AD203B41FA5}">
                      <a16:colId xmlns:a16="http://schemas.microsoft.com/office/drawing/2014/main" val="3734799298"/>
                    </a:ext>
                  </a:extLst>
                </a:gridCol>
              </a:tblGrid>
              <a:tr h="341265">
                <a:tc>
                  <a:txBody>
                    <a:bodyPr/>
                    <a:lstStyle/>
                    <a:p>
                      <a:pPr algn="ctr"/>
                      <a:r>
                        <a:rPr lang="en-US" sz="1800" b="1" err="1">
                          <a:solidFill>
                            <a:srgbClr val="FFFFFF"/>
                          </a:solidFill>
                        </a:rPr>
                        <a:t>Σύμ</a:t>
                      </a:r>
                      <a:r>
                        <a:rPr lang="en-US" sz="1800" b="1">
                          <a:solidFill>
                            <a:srgbClr val="FFFFFF"/>
                          </a:solidFill>
                        </a:rPr>
                        <a:t>βολο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err="1">
                          <a:solidFill>
                            <a:srgbClr val="FFFFFF"/>
                          </a:solidFill>
                        </a:rPr>
                        <a:t>Περιγρ</a:t>
                      </a:r>
                      <a:r>
                        <a:rPr lang="en-US" sz="1800" b="1">
                          <a:solidFill>
                            <a:srgbClr val="FFFFFF"/>
                          </a:solidFill>
                        </a:rPr>
                        <a:t>αφή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750203"/>
                  </a:ext>
                </a:extLst>
              </a:tr>
              <a:tr h="389046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sₜ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err="1"/>
                        <a:t>Νέ</a:t>
                      </a:r>
                      <a:r>
                        <a:rPr lang="en-US" sz="1800"/>
                        <a:t>α εξομαλυμένη θέση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811312"/>
                  </a:ext>
                </a:extLst>
              </a:tr>
              <a:tr h="389046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xₜ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Raw </a:t>
                      </a:r>
                      <a:r>
                        <a:rPr lang="en-US" sz="1800" err="1"/>
                        <a:t>θέση</a:t>
                      </a:r>
                      <a:r>
                        <a:rPr lang="en-US" sz="1800"/>
                        <a:t> από </a:t>
                      </a:r>
                      <a:r>
                        <a:rPr lang="en-US" sz="1800" err="1"/>
                        <a:t>το</a:t>
                      </a:r>
                      <a:r>
                        <a:rPr lang="en-US" sz="1800"/>
                        <a:t> </a:t>
                      </a:r>
                      <a:r>
                        <a:rPr lang="en-US" sz="1800" err="1"/>
                        <a:t>MediaPipe</a:t>
                      </a:r>
                      <a:endParaRPr lang="en-US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007952"/>
                  </a:ext>
                </a:extLst>
              </a:tr>
              <a:tr h="389046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err="1"/>
                        <a:t>Συντελεστής</a:t>
                      </a:r>
                      <a:r>
                        <a:rPr lang="en-US" sz="1800"/>
                        <a:t> 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651943"/>
                  </a:ext>
                </a:extLst>
              </a:tr>
              <a:tr h="24793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sₜ₋₁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Προηγούμενη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εξομ</a:t>
                      </a:r>
                      <a:r>
                        <a:rPr lang="en-US" sz="1800" dirty="0"/>
                        <a:t>αλυμένη θέση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585097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996CC3-95C2-91AA-EB8A-A43353640645}"/>
                  </a:ext>
                </a:extLst>
              </p:cNvPr>
              <p:cNvSpPr txBox="1"/>
              <p:nvPr/>
            </p:nvSpPr>
            <p:spPr>
              <a:xfrm>
                <a:off x="6073706" y="2531081"/>
                <a:ext cx="527322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3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200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l-GR" sz="3200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l-GR" sz="32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3200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l-GR" sz="3200" dirty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l-GR" sz="3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200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l-GR" sz="3200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l-GR" sz="3200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l-GR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3200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l-GR" sz="3200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l-GR" sz="3200" dirty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l-GR" sz="3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200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l-GR" sz="3200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l-GR" sz="3200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l-GR" sz="32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996CC3-95C2-91AA-EB8A-A43353640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706" y="2531081"/>
                <a:ext cx="527322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A4B8F256-109A-C96B-3CF6-D5F00AB4144A}"/>
              </a:ext>
            </a:extLst>
          </p:cNvPr>
          <p:cNvGrpSpPr/>
          <p:nvPr/>
        </p:nvGrpSpPr>
        <p:grpSpPr>
          <a:xfrm>
            <a:off x="331684" y="3824341"/>
            <a:ext cx="5273226" cy="3111263"/>
            <a:chOff x="6593738" y="330581"/>
            <a:chExt cx="4879747" cy="278246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669EB2-4853-55BD-391D-EA8BC5140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" t="-8" r="-3" b="-8"/>
            <a:stretch>
              <a:fillRect/>
            </a:stretch>
          </p:blipFill>
          <p:spPr bwMode="auto">
            <a:xfrm>
              <a:off x="6593738" y="330581"/>
              <a:ext cx="4879747" cy="24992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90EF87-FD94-ACF5-BD49-3BA418ED862E}"/>
                </a:ext>
              </a:extLst>
            </p:cNvPr>
            <p:cNvSpPr txBox="1"/>
            <p:nvPr/>
          </p:nvSpPr>
          <p:spPr>
            <a:xfrm>
              <a:off x="6763811" y="2528369"/>
              <a:ext cx="4648879" cy="584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700"/>
                </a:spcAft>
              </a:pPr>
              <a:r>
                <a:rPr lang="el-GR" sz="1100" b="1" i="1">
                  <a:latin typeface="Times New Roman" panose="02020603050405020304" pitchFamily="18" charset="0"/>
                </a:rPr>
                <a:t>Εικόνα 3: </a:t>
              </a:r>
              <a:r>
                <a:rPr lang="el-GR" sz="1100" i="1">
                  <a:latin typeface="Times New Roman" panose="02020603050405020304" pitchFamily="18" charset="0"/>
                </a:rPr>
                <a:t>Μικρό α (π.χ. 0.05) σημαίνει αργή απόκριση, μεγάλη εξομάλυνση.</a:t>
              </a:r>
              <a:endParaRPr lang="en-US" sz="1100" i="1">
                <a:latin typeface="Times New Roman" panose="02020603050405020304" pitchFamily="18" charset="0"/>
              </a:endParaRPr>
            </a:p>
            <a:p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D82232-5EC6-0101-D8C9-2C43AEBD2011}"/>
              </a:ext>
            </a:extLst>
          </p:cNvPr>
          <p:cNvGrpSpPr/>
          <p:nvPr/>
        </p:nvGrpSpPr>
        <p:grpSpPr>
          <a:xfrm>
            <a:off x="309851" y="840134"/>
            <a:ext cx="5164393" cy="2748502"/>
            <a:chOff x="6445446" y="3471310"/>
            <a:chExt cx="4967244" cy="244270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57EE627-95A3-D296-2AA8-5EE2051DD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" t="-8" r="-3" b="-8"/>
            <a:stretch>
              <a:fillRect/>
            </a:stretch>
          </p:blipFill>
          <p:spPr bwMode="auto">
            <a:xfrm>
              <a:off x="6549989" y="3471310"/>
              <a:ext cx="4758158" cy="24427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88F2B9-686B-3820-998A-78F960DA8337}"/>
                </a:ext>
              </a:extLst>
            </p:cNvPr>
            <p:cNvSpPr txBox="1"/>
            <p:nvPr/>
          </p:nvSpPr>
          <p:spPr>
            <a:xfrm>
              <a:off x="6445446" y="5633084"/>
              <a:ext cx="4967244" cy="2412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algn="ctr">
                <a:lnSpc>
                  <a:spcPct val="115000"/>
                </a:lnSpc>
                <a:spcAft>
                  <a:spcPts val="700"/>
                </a:spcAft>
                <a:buNone/>
              </a:pPr>
              <a:r>
                <a:rPr lang="el-GR" sz="1100" b="1" i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Εικόνα </a:t>
              </a:r>
              <a:r>
                <a:rPr lang="el-GR" sz="1100" b="1" i="1"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r>
                <a:rPr lang="el-GR" sz="1100" b="1" i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r>
                <a:rPr lang="el-GR" sz="1100" i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Μεγάλο α (π.χ. 0.50) σημαίνει γρήγορη απόκριση, λιγότερη εξομάλυνση.</a:t>
              </a:r>
              <a:endParaRPr lang="en-US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514A9C-7925-A303-498D-424FF9C4C882}"/>
              </a:ext>
            </a:extLst>
          </p:cNvPr>
          <p:cNvSpPr txBox="1">
            <a:spLocks/>
          </p:cNvSpPr>
          <p:nvPr/>
        </p:nvSpPr>
        <p:spPr>
          <a:xfrm>
            <a:off x="2753388" y="1026833"/>
            <a:ext cx="3924300" cy="465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l-G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AEA630-7855-9B35-288B-66A7BC61947E}"/>
              </a:ext>
            </a:extLst>
          </p:cNvPr>
          <p:cNvGrpSpPr/>
          <p:nvPr/>
        </p:nvGrpSpPr>
        <p:grpSpPr>
          <a:xfrm>
            <a:off x="732345" y="386294"/>
            <a:ext cx="11052546" cy="716279"/>
            <a:chOff x="678180" y="243841"/>
            <a:chExt cx="11052546" cy="71627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4F962A-8F4D-ACB6-53C7-959F3E6B356A}"/>
                </a:ext>
              </a:extLst>
            </p:cNvPr>
            <p:cNvSpPr/>
            <p:nvPr/>
          </p:nvSpPr>
          <p:spPr>
            <a:xfrm>
              <a:off x="678180" y="243841"/>
              <a:ext cx="2210910" cy="694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85FC7F-A13D-AA72-6785-FC5EDDEE931D}"/>
                </a:ext>
              </a:extLst>
            </p:cNvPr>
            <p:cNvSpPr/>
            <p:nvPr/>
          </p:nvSpPr>
          <p:spPr>
            <a:xfrm>
              <a:off x="678180" y="243841"/>
              <a:ext cx="10682722" cy="716279"/>
            </a:xfrm>
            <a:prstGeom prst="rect">
              <a:avLst/>
            </a:prstGeom>
            <a:gradFill>
              <a:gsLst>
                <a:gs pos="0">
                  <a:srgbClr val="908A82">
                    <a:alpha val="85000"/>
                  </a:srgbClr>
                </a:gs>
                <a:gs pos="100000">
                  <a:srgbClr val="212B26">
                    <a:alpha val="0"/>
                  </a:srgbClr>
                </a:gs>
              </a:gsLst>
              <a:lin ang="78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1DDB5A-8389-A775-61F3-0F565A2814B5}"/>
                </a:ext>
              </a:extLst>
            </p:cNvPr>
            <p:cNvSpPr txBox="1"/>
            <p:nvPr/>
          </p:nvSpPr>
          <p:spPr>
            <a:xfrm>
              <a:off x="722768" y="321300"/>
              <a:ext cx="110079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800" dirty="0"/>
                <a:t>EMA: </a:t>
              </a:r>
              <a:r>
                <a:rPr lang="el-GR" sz="2800" dirty="0" err="1"/>
                <a:t>Exponential</a:t>
              </a:r>
              <a:r>
                <a:rPr lang="el-GR" sz="2800" dirty="0"/>
                <a:t> </a:t>
              </a:r>
              <a:r>
                <a:rPr lang="el-GR" sz="2800" dirty="0" err="1"/>
                <a:t>Moving</a:t>
              </a:r>
              <a:r>
                <a:rPr lang="el-GR" sz="2800" dirty="0"/>
                <a:t> </a:t>
              </a:r>
              <a:r>
                <a:rPr lang="el-GR" sz="2800" dirty="0" err="1"/>
                <a:t>Average</a:t>
              </a:r>
              <a:endParaRPr lang="el-GR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7700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9820FD2-6F88-CD0F-85A1-C57F203D5915}"/>
              </a:ext>
            </a:extLst>
          </p:cNvPr>
          <p:cNvSpPr txBox="1"/>
          <p:nvPr/>
        </p:nvSpPr>
        <p:spPr>
          <a:xfrm>
            <a:off x="262963" y="1258046"/>
            <a:ext cx="11666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400"/>
              </a:spcAft>
              <a:buNone/>
            </a:pPr>
            <a:r>
              <a:rPr lang="el-G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Το φίλτρο μας είναι </a:t>
            </a:r>
            <a:r>
              <a:rPr lang="el-G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προσαρμοστικό</a:t>
            </a:r>
            <a:r>
              <a:rPr lang="el-G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το α αλλάζει ανάλογα με την ταχύτητα κίνησης του χεριού. Αυτό συμβαίνει όταν  </a:t>
            </a:r>
            <a:br>
              <a:rPr lang="el-G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l-G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η απόσταση μεταξύ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raw</a:t>
            </a:r>
            <a:r>
              <a:rPr lang="el-G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και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smoothed</a:t>
            </a:r>
            <a:r>
              <a:rPr lang="el-G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θέσης είναι </a:t>
            </a:r>
            <a:r>
              <a:rPr lang="el-G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μικρότερη από 15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pixels</a:t>
            </a:r>
            <a:r>
              <a:rPr lang="el-G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το α μειώνεται στο 10% της κανονικής του τιμής.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5D13C9-AF00-A076-8AF5-D1ABC7AEE970}"/>
                  </a:ext>
                </a:extLst>
              </p:cNvPr>
              <p:cNvSpPr txBox="1"/>
              <p:nvPr/>
            </p:nvSpPr>
            <p:spPr>
              <a:xfrm>
                <a:off x="4416611" y="2024478"/>
                <a:ext cx="3358775" cy="9174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Aft>
                    <a:spcPts val="400"/>
                  </a:spcAft>
                  <a:buNone/>
                </a:pP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algn="ctr">
                  <a:spcAft>
                    <a:spcPts val="400"/>
                  </a:spcAft>
                  <a:buNone/>
                </a:pPr>
                <a:r>
                  <a:rPr lang="el-GR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Έστω 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0.012 ,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Ά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ν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0.120 ,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Ά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λλο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5D13C9-AF00-A076-8AF5-D1ABC7AEE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611" y="2024478"/>
                <a:ext cx="3358775" cy="917431"/>
              </a:xfrm>
              <a:prstGeom prst="rect">
                <a:avLst/>
              </a:prstGeom>
              <a:blipFill>
                <a:blip r:embed="rId2"/>
                <a:stretch>
                  <a:fillRect l="-1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99951AB-F256-B6DC-4B2A-F9C66D086867}"/>
                  </a:ext>
                </a:extLst>
              </p:cNvPr>
              <p:cNvSpPr txBox="1"/>
              <p:nvPr/>
            </p:nvSpPr>
            <p:spPr>
              <a:xfrm>
                <a:off x="1304363" y="3260180"/>
                <a:ext cx="4138707" cy="2459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>
                  <a:spcAft>
                    <a:spcPts val="400"/>
                  </a:spcAft>
                  <a:buNone/>
                </a:pPr>
                <a:r>
                  <a:rPr lang="el-GR" sz="1800" b="1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Περίπτωση 1</a:t>
                </a:r>
                <a:r>
                  <a:rPr lang="el-GR" sz="1800" b="1" baseline="30000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η</a:t>
                </a:r>
                <a:r>
                  <a:rPr lang="el-GR" sz="1800" b="1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:</a:t>
                </a:r>
                <a:r>
                  <a:rPr lang="el-GR" sz="1800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 </a:t>
                </a:r>
                <a:r>
                  <a:rPr lang="el-GR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Έστω ότι ο χρήστης κουνάει το χέρι του από το </a:t>
                </a:r>
                <a:r>
                  <a:rPr lang="en-US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pixel</a:t>
                </a:r>
                <a:r>
                  <a:rPr lang="el-GR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500</a:t>
                </a:r>
                <a:r>
                  <a:rPr lang="el-GR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σε μια νέα θέση, στο </a:t>
                </a:r>
                <a:r>
                  <a:rPr lang="en-US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pixel</a:t>
                </a:r>
                <a:r>
                  <a:rPr lang="el-GR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550</a:t>
                </a:r>
                <a:r>
                  <a:rPr lang="el-GR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br>
                  <a:rPr lang="el-GR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endParaRPr lang="en-US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0.12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0.88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⇔</m:t>
                          </m:r>
                        </m:e>
                        <m:e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0.12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550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0.88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500 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⇔</m:t>
                          </m:r>
                        </m:e>
                        <m:e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66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440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506</m:t>
                          </m:r>
                        </m:e>
                      </m:eqArr>
                    </m:oMath>
                  </m:oMathPara>
                </a14:m>
                <a:endParaRPr lang="en-US" sz="16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algn="ctr">
                  <a:buNone/>
                </a:pPr>
                <a:br>
                  <a:rPr lang="el-GR" sz="1600" b="1" i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r>
                  <a:rPr lang="el-GR" sz="1600" b="1" i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Συνεπώς</a:t>
                </a:r>
                <a:r>
                  <a:rPr lang="el-GR" sz="1600" i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η νέα εξομαλυμένη θέση είναι </a:t>
                </a:r>
                <a:r>
                  <a:rPr lang="el-GR" sz="1600" b="1" i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506</a:t>
                </a:r>
                <a:r>
                  <a:rPr lang="el-GR" sz="1600" i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99951AB-F256-B6DC-4B2A-F9C66D086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363" y="3260180"/>
                <a:ext cx="4138707" cy="2459841"/>
              </a:xfrm>
              <a:prstGeom prst="rect">
                <a:avLst/>
              </a:prstGeom>
              <a:blipFill>
                <a:blip r:embed="rId3"/>
                <a:stretch>
                  <a:fillRect t="-1737" b="-2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41BE840-0521-EBCB-3274-29DADFB86FF2}"/>
                  </a:ext>
                </a:extLst>
              </p:cNvPr>
              <p:cNvSpPr txBox="1"/>
              <p:nvPr/>
            </p:nvSpPr>
            <p:spPr>
              <a:xfrm>
                <a:off x="6200587" y="3260180"/>
                <a:ext cx="5235389" cy="2961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>
                  <a:spcAft>
                    <a:spcPts val="400"/>
                  </a:spcAft>
                  <a:buNone/>
                </a:pPr>
                <a:r>
                  <a:rPr lang="el-GR" sz="1800" b="1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Περίπτωση 2</a:t>
                </a:r>
                <a:r>
                  <a:rPr lang="el-GR" sz="1800" b="1" baseline="30000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η</a:t>
                </a:r>
                <a:r>
                  <a:rPr lang="el-GR" sz="1800" b="1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:</a:t>
                </a:r>
                <a:r>
                  <a:rPr lang="el-GR" sz="1800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 Έστω</a:t>
                </a:r>
                <a:r>
                  <a:rPr lang="el-GR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ότι ο χρήστης κρατάει το χέρι του ακίνητο, αλλά λόγω θορύβου της κάμερας, το </a:t>
                </a:r>
                <a:r>
                  <a:rPr lang="en-US" sz="180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MediaPipe</a:t>
                </a:r>
                <a:r>
                  <a:rPr lang="el-GR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βγάζει λανθασμένα ότι η νέα θέση είναι </a:t>
                </a:r>
                <a:r>
                  <a:rPr lang="el-GR" sz="180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στ</a:t>
                </a:r>
                <a:r>
                  <a:rPr lang="en-US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 </a:t>
                </a:r>
                <a:r>
                  <a:rPr lang="el-GR" sz="1800" b="1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505 </a:t>
                </a:r>
                <a:r>
                  <a:rPr lang="en-US" sz="1800" b="1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pixel</a:t>
                </a:r>
                <a:r>
                  <a:rPr lang="el-GR" sz="1800" b="1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, </a:t>
                </a:r>
                <a:r>
                  <a:rPr lang="el-GR" sz="1800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με προηγούμενη θέση το </a:t>
                </a:r>
                <a:r>
                  <a:rPr lang="el-GR" sz="1800" b="1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500 </a:t>
                </a:r>
                <a:r>
                  <a:rPr lang="en-US" sz="1800" b="1">
                    <a:effectLst/>
                    <a:latin typeface="Google Sans Text"/>
                    <a:ea typeface="Times New Roman" panose="02020603050405020304" pitchFamily="18" charset="0"/>
                    <a:cs typeface="Google Sans Text"/>
                  </a:rPr>
                  <a:t>pixel</a:t>
                </a:r>
                <a:r>
                  <a:rPr lang="el-GR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en-US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0.012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0.988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⇔</m:t>
                          </m:r>
                        </m:e>
                        <m:e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0.012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505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0.988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500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⇔</m:t>
                          </m:r>
                        </m:e>
                        <m:e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6.06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494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500.06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⇔</m:t>
                          </m:r>
                        </m:e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𝑖𝑛𝑡</m:t>
                          </m:r>
                          <m:d>
                            <m:d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500.06</m:t>
                              </m:r>
                            </m:e>
                          </m:d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=500</m:t>
                          </m:r>
                        </m:e>
                      </m:eqArr>
                    </m:oMath>
                  </m:oMathPara>
                </a14:m>
                <a:endParaRPr lang="en-US" sz="16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algn="ctr">
                  <a:buNone/>
                </a:pPr>
                <a:r>
                  <a:rPr lang="el-GR" sz="16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en-US" sz="16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algn="ctr">
                  <a:buNone/>
                </a:pPr>
                <a:r>
                  <a:rPr lang="el-GR" sz="1600" b="1" i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Συνεπώς</a:t>
                </a:r>
                <a:r>
                  <a:rPr lang="el-GR" sz="1600" i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η νέα εξομαλυμένη θέση είναι η ίδια με την προηγούμενη.</a:t>
                </a:r>
                <a:endParaRPr lang="en-US" sz="16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41BE840-0521-EBCB-3274-29DADFB86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587" y="3260180"/>
                <a:ext cx="5235389" cy="2961580"/>
              </a:xfrm>
              <a:prstGeom prst="rect">
                <a:avLst/>
              </a:prstGeom>
              <a:blipFill>
                <a:blip r:embed="rId4"/>
                <a:stretch>
                  <a:fillRect t="-1440" b="-1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59F2C5ED-0505-7A18-BB44-6F1C4A32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E86835-476E-C01F-7F83-4C028EB62892}"/>
              </a:ext>
            </a:extLst>
          </p:cNvPr>
          <p:cNvGrpSpPr/>
          <p:nvPr/>
        </p:nvGrpSpPr>
        <p:grpSpPr>
          <a:xfrm>
            <a:off x="352944" y="386294"/>
            <a:ext cx="11062123" cy="716279"/>
            <a:chOff x="298779" y="243841"/>
            <a:chExt cx="11062123" cy="71627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15DDE1-7CCF-BF58-9359-1F57DCE49523}"/>
                </a:ext>
              </a:extLst>
            </p:cNvPr>
            <p:cNvSpPr/>
            <p:nvPr/>
          </p:nvSpPr>
          <p:spPr>
            <a:xfrm>
              <a:off x="678180" y="243841"/>
              <a:ext cx="2210910" cy="694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D44CF4-F617-9E0C-18FA-AF3658F667DA}"/>
                </a:ext>
              </a:extLst>
            </p:cNvPr>
            <p:cNvSpPr/>
            <p:nvPr/>
          </p:nvSpPr>
          <p:spPr>
            <a:xfrm>
              <a:off x="678180" y="243841"/>
              <a:ext cx="10682722" cy="716279"/>
            </a:xfrm>
            <a:prstGeom prst="rect">
              <a:avLst/>
            </a:prstGeom>
            <a:gradFill>
              <a:gsLst>
                <a:gs pos="0">
                  <a:srgbClr val="908A82">
                    <a:alpha val="85000"/>
                  </a:srgbClr>
                </a:gs>
                <a:gs pos="100000">
                  <a:srgbClr val="212B26">
                    <a:alpha val="0"/>
                  </a:srgbClr>
                </a:gs>
              </a:gsLst>
              <a:lin ang="78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8A1FEA-5FAC-6133-6CE2-646FD5359AE8}"/>
                </a:ext>
              </a:extLst>
            </p:cNvPr>
            <p:cNvSpPr txBox="1"/>
            <p:nvPr/>
          </p:nvSpPr>
          <p:spPr>
            <a:xfrm>
              <a:off x="298779" y="278814"/>
              <a:ext cx="110079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1" algn="ctr">
                <a:spcBef>
                  <a:spcPts val="200"/>
                </a:spcBef>
              </a:pPr>
              <a:r>
                <a:rPr lang="en-US" sz="3600" cap="all" spc="150" dirty="0"/>
                <a:t>Stability locking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356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7985F-F415-71D4-2A26-1CE486A4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E472D9D-CCAD-6C17-FB20-F0E08F033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4749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E62E9E-5342-C9EE-1308-5249E539A87D}"/>
              </a:ext>
            </a:extLst>
          </p:cNvPr>
          <p:cNvSpPr txBox="1"/>
          <p:nvPr/>
        </p:nvSpPr>
        <p:spPr>
          <a:xfrm>
            <a:off x="-143295" y="197720"/>
            <a:ext cx="121282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 algn="ctr">
              <a:spcBef>
                <a:spcPts val="200"/>
              </a:spcBef>
            </a:pPr>
            <a:r>
              <a:rPr lang="el-GR" sz="3600"/>
              <a:t>ΥΠΟΛΟΓΙΣΜΟΣ ΔΙΑΝΥΣΜΑΤΩΝ ΣΧΕΤΙΚΗΣ ΑΠΟΣΤΑΣΗΣ  </a:t>
            </a:r>
            <a:endParaRPr lang="en-US" sz="3600" spc="150">
              <a:latin typeface="+mj-lt"/>
              <a:ea typeface="+mj-ea"/>
              <a:cs typeface="+mj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690B773-A438-07B9-255B-25B87D8FEDDB}"/>
              </a:ext>
            </a:extLst>
          </p:cNvPr>
          <p:cNvGrpSpPr/>
          <p:nvPr/>
        </p:nvGrpSpPr>
        <p:grpSpPr>
          <a:xfrm>
            <a:off x="643174" y="3117489"/>
            <a:ext cx="10558351" cy="1046440"/>
            <a:chOff x="639472" y="934744"/>
            <a:chExt cx="10636683" cy="104644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7824F7-6F7F-AC3E-EF59-17FD41FCA511}"/>
                </a:ext>
              </a:extLst>
            </p:cNvPr>
            <p:cNvSpPr txBox="1"/>
            <p:nvPr/>
          </p:nvSpPr>
          <p:spPr>
            <a:xfrm>
              <a:off x="639472" y="934744"/>
              <a:ext cx="10636683" cy="104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lvl="1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el-GR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Επειδή το ποντίκι δέχεται μόνο ακέραιες τιμές, η απλή στρογγυλοποίηση θα μηδένιζε τις πολύ αργές κινήσεις  (π.χ. </a:t>
              </a:r>
              <a:r>
                <a:rPr lang="el-GR" altLang="en-US" i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kumimoji="0" lang="el-GR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). </a:t>
              </a:r>
              <a:r>
                <a:rPr lang="el-GR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Για να λυθεί αυτό, τα δεκαδικά υπόλοιπα προστίθενται σε συσσωρευτές (</a:t>
              </a:r>
              <a:r>
                <a:rPr lang="el-GR" alt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accumulators</a:t>
              </a:r>
              <a:r>
                <a:rPr lang="el-GR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  <a:endPara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9206D841-DF46-BA92-53B5-83330A32CB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8876368"/>
                </p:ext>
              </p:extLst>
            </p:nvPr>
          </p:nvGraphicFramePr>
          <p:xfrm>
            <a:off x="2840153" y="1219617"/>
            <a:ext cx="862032" cy="372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83920" imgH="253800" progId="Equation.DSMT4">
                    <p:embed/>
                  </p:oleObj>
                </mc:Choice>
                <mc:Fallback>
                  <p:oleObj name="Equation" r:id="rId3" imgW="583920" imgH="253800" progId="Equation.DSMT4">
                    <p:embed/>
                    <p:pic>
                      <p:nvPicPr>
                        <p:cNvPr id="18" name="Object 17">
                          <a:extLst>
                            <a:ext uri="{FF2B5EF4-FFF2-40B4-BE49-F238E27FC236}">
                              <a16:creationId xmlns:a16="http://schemas.microsoft.com/office/drawing/2014/main" id="{9206D841-DF46-BA92-53B5-83330A32CB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0153" y="1219617"/>
                          <a:ext cx="862032" cy="37267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16318F-6895-670A-3DF6-061608BE2FF4}"/>
              </a:ext>
            </a:extLst>
          </p:cNvPr>
          <p:cNvSpPr/>
          <p:nvPr/>
        </p:nvSpPr>
        <p:spPr>
          <a:xfrm>
            <a:off x="1374475" y="1237583"/>
            <a:ext cx="9443049" cy="1663014"/>
          </a:xfrm>
          <a:prstGeom prst="rect">
            <a:avLst/>
          </a:prstGeom>
          <a:solidFill>
            <a:srgbClr val="E9E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8A7FE091-A21D-2592-3C06-3D02188B60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96043"/>
                  </p:ext>
                </p:extLst>
              </p:nvPr>
            </p:nvGraphicFramePr>
            <p:xfrm>
              <a:off x="7046003" y="3750706"/>
              <a:ext cx="3771521" cy="2644434"/>
            </p:xfrm>
            <a:graphic>
              <a:graphicData uri="http://schemas.openxmlformats.org/drawingml/2006/table">
                <a:tbl>
                  <a:tblPr bandRow="1">
                    <a:tableStyleId>{073A0DAA-6AF3-43AB-8588-CEC1D06C72B9}</a:tableStyleId>
                  </a:tblPr>
                  <a:tblGrid>
                    <a:gridCol w="782312">
                      <a:extLst>
                        <a:ext uri="{9D8B030D-6E8A-4147-A177-3AD203B41FA5}">
                          <a16:colId xmlns:a16="http://schemas.microsoft.com/office/drawing/2014/main" val="1496943675"/>
                        </a:ext>
                      </a:extLst>
                    </a:gridCol>
                    <a:gridCol w="2989209">
                      <a:extLst>
                        <a:ext uri="{9D8B030D-6E8A-4147-A177-3AD203B41FA5}">
                          <a16:colId xmlns:a16="http://schemas.microsoft.com/office/drawing/2014/main" val="897793347"/>
                        </a:ext>
                      </a:extLst>
                    </a:gridCol>
                  </a:tblGrid>
                  <a:tr h="237047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b="1" i="1" err="1"/>
                            <a:t>Δx</a:t>
                          </a:r>
                          <a:r>
                            <a:rPr lang="el-GR" sz="1400" b="1" baseline="-25000" err="1"/>
                            <a:t>cam</a:t>
                          </a:r>
                          <a:r>
                            <a:rPr lang="el-GR" sz="1400" b="1"/>
                            <a:t> </a:t>
                          </a:r>
                          <a:endParaRPr lang="el-GR" sz="1400" b="1" baseline="-25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/>
                            <a:t>Καθαρή μετατόπιση σε </a:t>
                          </a:r>
                          <a:r>
                            <a:rPr lang="el-GR" sz="1400" err="1"/>
                            <a:t>pixel</a:t>
                          </a:r>
                          <a:r>
                            <a:rPr lang="el-GR" sz="1400"/>
                            <a:t> κάμερας</a:t>
                          </a:r>
                          <a:endParaRPr lang="en-US" sz="14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7301956"/>
                      </a:ext>
                    </a:extLst>
                  </a:tr>
                  <a:tr h="245644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b="1" i="1" err="1"/>
                            <a:t>s</a:t>
                          </a:r>
                          <a:r>
                            <a:rPr lang="el-GR" sz="1400" b="1" baseline="-25000" err="1"/>
                            <a:t>x,t</a:t>
                          </a:r>
                          <a:r>
                            <a:rPr lang="el-GR" sz="1400" b="1"/>
                            <a:t> , </a:t>
                          </a:r>
                          <a:r>
                            <a:rPr lang="el-GR" sz="1400" b="1" i="1" err="1"/>
                            <a:t>s</a:t>
                          </a:r>
                          <a:r>
                            <a:rPr lang="el-GR" sz="1400" b="1" baseline="-25000" err="1"/>
                            <a:t>y,t</a:t>
                          </a:r>
                          <a:endParaRPr lang="el-GR" sz="1400" b="1" baseline="-25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/>
                            <a:t>Τρέχουσα εξομαλυμένη θέση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574538"/>
                      </a:ext>
                    </a:extLst>
                  </a:tr>
                  <a:tr h="40298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b="1" i="1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400"/>
                            <a:t>Συντελεστής κλιμάκωσης (</a:t>
                          </a:r>
                          <a:r>
                            <a:rPr lang="el-GR" sz="1400" err="1"/>
                            <a:t>sensitivity</a:t>
                          </a:r>
                          <a:r>
                            <a:rPr lang="el-GR" sz="1400"/>
                            <a:t>)</a:t>
                          </a:r>
                          <a:endParaRPr lang="en-US" sz="14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3121034"/>
                      </a:ext>
                    </a:extLst>
                  </a:tr>
                  <a:tr h="382174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b="1" i="1" err="1"/>
                            <a:t>dx</a:t>
                          </a:r>
                          <a:endParaRPr lang="el-GR" sz="1400" b="1" i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/>
                            <a:t>Τελική ακέραια κίνηση → </a:t>
                          </a:r>
                          <a:r>
                            <a:rPr lang="el-GR" sz="1400" err="1"/>
                            <a:t>kernel</a:t>
                          </a:r>
                          <a:endParaRPr lang="el-GR" sz="14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0286413"/>
                      </a:ext>
                    </a:extLst>
                  </a:tr>
                  <a:tr h="40298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b="1" i="1" err="1"/>
                            <a:t>A</a:t>
                          </a:r>
                          <a:r>
                            <a:rPr lang="el-GR" sz="1400" b="1" baseline="-25000" err="1"/>
                            <a:t>x,new</a:t>
                          </a:r>
                          <a:endParaRPr lang="el-GR" sz="1400" b="1" baseline="-25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/>
                            <a:t>Δεκαδικό υπόλοιπο → επόμενο frame</a:t>
                          </a:r>
                          <a:endParaRPr lang="en-US" sz="14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1441742"/>
                      </a:ext>
                    </a:extLst>
                  </a:tr>
                  <a:tr h="40298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l-GR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400" b="1" i="1" dirty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l-GR" sz="1400" b="1" i="1" dirty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l-GR" sz="1400" b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l-GR" sz="1400" b="1" i="1" dirty="0">
                                        <a:latin typeface="Cambria Math" panose="02040503050406030204" pitchFamily="18" charset="0"/>
                                      </a:rPr>
                                      <m:t>𝒑𝒓𝒆𝒗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l-GR" sz="1400" b="1" baseline="-25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- || 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78812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8A7FE091-A21D-2592-3C06-3D02188B60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96043"/>
                  </p:ext>
                </p:extLst>
              </p:nvPr>
            </p:nvGraphicFramePr>
            <p:xfrm>
              <a:off x="7046003" y="3750706"/>
              <a:ext cx="3771521" cy="2644434"/>
            </p:xfrm>
            <a:graphic>
              <a:graphicData uri="http://schemas.openxmlformats.org/drawingml/2006/table">
                <a:tbl>
                  <a:tblPr bandRow="1">
                    <a:tableStyleId>{073A0DAA-6AF3-43AB-8588-CEC1D06C72B9}</a:tableStyleId>
                  </a:tblPr>
                  <a:tblGrid>
                    <a:gridCol w="782312">
                      <a:extLst>
                        <a:ext uri="{9D8B030D-6E8A-4147-A177-3AD203B41FA5}">
                          <a16:colId xmlns:a16="http://schemas.microsoft.com/office/drawing/2014/main" val="1496943675"/>
                        </a:ext>
                      </a:extLst>
                    </a:gridCol>
                    <a:gridCol w="2989209">
                      <a:extLst>
                        <a:ext uri="{9D8B030D-6E8A-4147-A177-3AD203B41FA5}">
                          <a16:colId xmlns:a16="http://schemas.microsoft.com/office/drawing/2014/main" val="89779334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b="1" i="1" err="1"/>
                            <a:t>Δx</a:t>
                          </a:r>
                          <a:r>
                            <a:rPr lang="el-GR" sz="1400" b="1" baseline="-25000" err="1"/>
                            <a:t>cam</a:t>
                          </a:r>
                          <a:r>
                            <a:rPr lang="el-GR" sz="1400" b="1"/>
                            <a:t> </a:t>
                          </a:r>
                          <a:endParaRPr lang="el-GR" sz="1400" b="1" baseline="-25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/>
                            <a:t>Καθαρή μετατόπιση σε </a:t>
                          </a:r>
                          <a:r>
                            <a:rPr lang="el-GR" sz="1400" err="1"/>
                            <a:t>pixel</a:t>
                          </a:r>
                          <a:r>
                            <a:rPr lang="el-GR" sz="1400"/>
                            <a:t> κάμερας</a:t>
                          </a:r>
                          <a:endParaRPr lang="en-US" sz="14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730195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b="1" i="1" err="1"/>
                            <a:t>s</a:t>
                          </a:r>
                          <a:r>
                            <a:rPr lang="el-GR" sz="1400" b="1" baseline="-25000" err="1"/>
                            <a:t>x,t</a:t>
                          </a:r>
                          <a:r>
                            <a:rPr lang="el-GR" sz="1400" b="1"/>
                            <a:t> , </a:t>
                          </a:r>
                          <a:r>
                            <a:rPr lang="el-GR" sz="1400" b="1" i="1" err="1"/>
                            <a:t>s</a:t>
                          </a:r>
                          <a:r>
                            <a:rPr lang="el-GR" sz="1400" b="1" baseline="-25000" err="1"/>
                            <a:t>y,t</a:t>
                          </a:r>
                          <a:endParaRPr lang="el-GR" sz="1400" b="1" baseline="-25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/>
                            <a:t>Τρέχουσα εξομαλυμένη θέση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57453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b="1" i="1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400"/>
                            <a:t>Συντελεστής κλιμάκωσης (</a:t>
                          </a:r>
                          <a:r>
                            <a:rPr lang="el-GR" sz="1400" err="1"/>
                            <a:t>sensitivity</a:t>
                          </a:r>
                          <a:r>
                            <a:rPr lang="el-GR" sz="1400"/>
                            <a:t>)</a:t>
                          </a:r>
                          <a:endParaRPr lang="en-US" sz="14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3121034"/>
                      </a:ext>
                    </a:extLst>
                  </a:tr>
                  <a:tr h="382174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b="1" i="1" err="1"/>
                            <a:t>dx</a:t>
                          </a:r>
                          <a:endParaRPr lang="el-GR" sz="1400" b="1" i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/>
                            <a:t>Τελική ακέραια κίνηση → </a:t>
                          </a:r>
                          <a:r>
                            <a:rPr lang="el-GR" sz="1400" err="1"/>
                            <a:t>kernel</a:t>
                          </a:r>
                          <a:endParaRPr lang="el-GR" sz="14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028641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b="1" i="1" err="1"/>
                            <a:t>A</a:t>
                          </a:r>
                          <a:r>
                            <a:rPr lang="el-GR" sz="1400" b="1" baseline="-25000" err="1"/>
                            <a:t>x,new</a:t>
                          </a:r>
                          <a:endParaRPr lang="el-GR" sz="1400" b="1" baseline="-25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/>
                            <a:t>Δεκαδικό υπόλοιπο → επόμενο frame</a:t>
                          </a:r>
                          <a:endParaRPr lang="en-US" sz="14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1441742"/>
                      </a:ext>
                    </a:extLst>
                  </a:tr>
                  <a:tr h="4029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75" t="-562121" r="-3821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- || 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78812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DAA18DE-40FE-10B9-CD0E-41192CF0E0B0}"/>
              </a:ext>
            </a:extLst>
          </p:cNvPr>
          <p:cNvSpPr/>
          <p:nvPr/>
        </p:nvSpPr>
        <p:spPr>
          <a:xfrm>
            <a:off x="6095998" y="1754815"/>
            <a:ext cx="835565" cy="364795"/>
          </a:xfrm>
          <a:prstGeom prst="rect">
            <a:avLst/>
          </a:prstGeom>
          <a:gradFill>
            <a:gsLst>
              <a:gs pos="0">
                <a:srgbClr val="0070C0">
                  <a:alpha val="25000"/>
                </a:srgbClr>
              </a:gs>
              <a:gs pos="100000">
                <a:srgbClr val="0A416A">
                  <a:alpha val="27000"/>
                </a:srgbClr>
              </a:gs>
            </a:gsLst>
            <a:lin ang="5400000" scaled="1"/>
          </a:gradFill>
          <a:ln>
            <a:noFill/>
          </a:ln>
          <a:effectLst>
            <a:softEdge rad="38100"/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FD9F3E4-97A0-D6B1-4955-39AF245B8843}"/>
              </a:ext>
            </a:extLst>
          </p:cNvPr>
          <p:cNvGrpSpPr/>
          <p:nvPr/>
        </p:nvGrpSpPr>
        <p:grpSpPr>
          <a:xfrm>
            <a:off x="1549238" y="1431668"/>
            <a:ext cx="9963208" cy="957578"/>
            <a:chOff x="1445228" y="1281011"/>
            <a:chExt cx="9594872" cy="9575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E1891F1-2983-4513-E262-32DF702F5B57}"/>
                    </a:ext>
                  </a:extLst>
                </p:cNvPr>
                <p:cNvSpPr txBox="1"/>
                <p:nvPr/>
              </p:nvSpPr>
              <p:spPr>
                <a:xfrm>
                  <a:off x="4180788" y="1281347"/>
                  <a:ext cx="3092675" cy="9569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l-GR" b="1" dirty="0"/>
                    <a:t>2.   Συσσωρευτής κίνησης: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l-GR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l-G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l-GR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b>
                        </m:sSub>
                      </m:oMath>
                    </m:oMathPara>
                  </a14:m>
                  <a:endParaRPr lang="el-GR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l-GR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l-GR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lang="el-G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l-GR" dirty="0">
                                    <a:latin typeface="Cambria Math" panose="02040503050406030204" pitchFamily="18" charset="0"/>
                                  </a:rPr>
                                  <m:t>cam</m:t>
                                </m:r>
                              </m:sub>
                            </m:sSub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oMath>
                    </m:oMathPara>
                  </a14:m>
                  <a:endParaRPr lang="el-GR" b="1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E1891F1-2983-4513-E262-32DF702F5B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0788" y="1281347"/>
                  <a:ext cx="3092675" cy="956929"/>
                </a:xfrm>
                <a:prstGeom prst="rect">
                  <a:avLst/>
                </a:prstGeom>
                <a:blipFill>
                  <a:blip r:embed="rId6"/>
                  <a:stretch>
                    <a:fillRect l="-1518" t="-4459" b="-12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B0079A9-E660-B9EA-90BD-58EDEEDB0C63}"/>
                    </a:ext>
                  </a:extLst>
                </p:cNvPr>
                <p:cNvSpPr txBox="1"/>
                <p:nvPr/>
              </p:nvSpPr>
              <p:spPr>
                <a:xfrm>
                  <a:off x="1445228" y="1281011"/>
                  <a:ext cx="2862729" cy="9355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buFont typeface="+mj-lt"/>
                    <a:buAutoNum type="arabicPeriod"/>
                  </a:pPr>
                  <a:r>
                    <a:rPr lang="el-GR" b="1" dirty="0"/>
                    <a:t>Σχετική μετατόπιση:</a:t>
                  </a:r>
                </a:p>
                <a:p>
                  <a:pPr>
                    <a:buNone/>
                  </a:pPr>
                  <a:endParaRPr lang="el-GR" dirty="0">
                    <a:latin typeface="Cambria Math" panose="02040503050406030204" pitchFamily="18" charset="0"/>
                  </a:endParaRP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l-GR" dirty="0">
                            <a:latin typeface="Cambria Math" panose="02040503050406030204" pitchFamily="18" charset="0"/>
                          </a:rPr>
                          <m:t>𝛥</m:t>
                        </m:r>
                        <m:sSub>
                          <m:sSub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l-GR" dirty="0">
                                <a:latin typeface="Cambria Math" panose="02040503050406030204" pitchFamily="18" charset="0"/>
                              </a:rPr>
                              <m:t>cam</m:t>
                            </m:r>
                          </m:sub>
                        </m:sSub>
                        <m:r>
                          <a:rPr lang="el-GR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l-GR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B0079A9-E660-B9EA-90BD-58EDEEDB0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5228" y="1281011"/>
                  <a:ext cx="2862729" cy="935513"/>
                </a:xfrm>
                <a:prstGeom prst="rect">
                  <a:avLst/>
                </a:prstGeom>
                <a:blipFill>
                  <a:blip r:embed="rId7"/>
                  <a:stretch>
                    <a:fillRect l="-1639" t="-45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69214AA-AED7-A6E0-C1FB-DE7542469463}"/>
                    </a:ext>
                  </a:extLst>
                </p:cNvPr>
                <p:cNvSpPr txBox="1"/>
                <p:nvPr/>
              </p:nvSpPr>
              <p:spPr>
                <a:xfrm>
                  <a:off x="7191253" y="1303076"/>
                  <a:ext cx="3848847" cy="9355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l-GR" b="1" dirty="0"/>
                    <a:t>3.  Τελική κίνηση &amp; υπόλοιπο:</a:t>
                  </a:r>
                </a:p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l-GR" dirty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l-GR" dirty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l-GR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l-GR" b="1" dirty="0"/>
                </a:p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b>
                        </m:sSub>
                        <m:r>
                          <a:rPr lang="el-GR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l-GR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l-GR" dirty="0">
                            <a:latin typeface="Cambria Math" panose="02040503050406030204" pitchFamily="18" charset="0"/>
                          </a:rPr>
                          <m:t>𝑑𝑥</m:t>
                        </m:r>
                      </m:oMath>
                    </m:oMathPara>
                  </a14:m>
                  <a:endParaRPr lang="el-GR" b="1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69214AA-AED7-A6E0-C1FB-DE75424694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1253" y="1303076"/>
                  <a:ext cx="3848847" cy="935513"/>
                </a:xfrm>
                <a:prstGeom prst="rect">
                  <a:avLst/>
                </a:prstGeom>
                <a:blipFill>
                  <a:blip r:embed="rId8"/>
                  <a:stretch>
                    <a:fillRect l="-1266" t="-38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011065F-9406-A9E7-6462-21957103D17F}"/>
              </a:ext>
            </a:extLst>
          </p:cNvPr>
          <p:cNvSpPr txBox="1"/>
          <p:nvPr/>
        </p:nvSpPr>
        <p:spPr>
          <a:xfrm>
            <a:off x="4590785" y="2455222"/>
            <a:ext cx="3010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0A416A"/>
                </a:solidFill>
              </a:rPr>
              <a:t>Παρομοίως για τον άξονα </a:t>
            </a:r>
            <a:r>
              <a:rPr lang="en-US" dirty="0">
                <a:solidFill>
                  <a:srgbClr val="0A416A"/>
                </a:solidFill>
              </a:rPr>
              <a:t>y</a:t>
            </a:r>
            <a:r>
              <a:rPr lang="el-GR" dirty="0">
                <a:solidFill>
                  <a:srgbClr val="0A416A"/>
                </a:solidFill>
              </a:rPr>
              <a:t> </a:t>
            </a:r>
            <a:endParaRPr lang="en-US" dirty="0">
              <a:solidFill>
                <a:srgbClr val="0A416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88429-6A41-48C9-AA8C-E4E3F7704429}"/>
              </a:ext>
            </a:extLst>
          </p:cNvPr>
          <p:cNvSpPr txBox="1"/>
          <p:nvPr/>
        </p:nvSpPr>
        <p:spPr>
          <a:xfrm>
            <a:off x="1331821" y="4297773"/>
            <a:ext cx="5558550" cy="1600438"/>
          </a:xfrm>
          <a:prstGeom prst="rect">
            <a:avLst/>
          </a:prstGeom>
          <a:solidFill>
            <a:srgbClr val="F0F4F8"/>
          </a:solidFill>
          <a:ln w="12700">
            <a:solidFill>
              <a:srgbClr val="0A416A"/>
            </a:solidFill>
          </a:ln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l-GR">
                <a:solidFill>
                  <a:srgbClr val="0A416A"/>
                </a:solidFill>
              </a:rPr>
              <a:t>Παράδειγμα (μόνο άξονας x)</a:t>
            </a:r>
          </a:p>
          <a:p>
            <a:pPr>
              <a:buNone/>
            </a:pPr>
            <a:r>
              <a:rPr lang="el-GR" sz="1600"/>
              <a:t>Έστω  S = 3.5,  </a:t>
            </a:r>
            <a:r>
              <a:rPr lang="en-US" sz="1600" err="1"/>
              <a:t>A</a:t>
            </a:r>
            <a:r>
              <a:rPr lang="en-US" sz="1600" baseline="-25000" err="1"/>
              <a:t>x,prev</a:t>
            </a:r>
            <a:r>
              <a:rPr lang="el-GR" sz="1600"/>
              <a:t> = 0.4,  </a:t>
            </a:r>
            <a:r>
              <a:rPr lang="en-US" sz="1600" err="1"/>
              <a:t>s</a:t>
            </a:r>
            <a:r>
              <a:rPr lang="en-US" sz="1600" baseline="-25000" err="1"/>
              <a:t>x,t</a:t>
            </a:r>
            <a:r>
              <a:rPr lang="el-GR" sz="1600"/>
              <a:t> = 506,  </a:t>
            </a:r>
            <a:r>
              <a:rPr lang="en-US" sz="1600"/>
              <a:t>s</a:t>
            </a:r>
            <a:r>
              <a:rPr lang="en-US" sz="1600" baseline="-25000"/>
              <a:t>x,t−1</a:t>
            </a:r>
            <a:r>
              <a:rPr lang="el-GR" sz="1600"/>
              <a:t> = 500</a:t>
            </a:r>
          </a:p>
          <a:p>
            <a:pPr>
              <a:buNone/>
            </a:pPr>
            <a:r>
              <a:rPr lang="el-GR" sz="1600"/>
              <a:t>1.  </a:t>
            </a:r>
            <a:r>
              <a:rPr lang="el-GR" sz="1600" err="1"/>
              <a:t>Δx</a:t>
            </a:r>
            <a:r>
              <a:rPr lang="el-GR" sz="1600" baseline="-25000" err="1"/>
              <a:t>cam</a:t>
            </a:r>
            <a:r>
              <a:rPr lang="el-GR" sz="1600"/>
              <a:t> = 506 − 500 = </a:t>
            </a:r>
            <a:r>
              <a:rPr lang="el-GR" sz="1600" b="1"/>
              <a:t>6</a:t>
            </a:r>
          </a:p>
          <a:p>
            <a:pPr>
              <a:buNone/>
            </a:pPr>
            <a:r>
              <a:rPr lang="el-GR" sz="1600"/>
              <a:t>2.  </a:t>
            </a:r>
            <a:r>
              <a:rPr lang="el-GR" sz="1600" err="1"/>
              <a:t>A</a:t>
            </a:r>
            <a:r>
              <a:rPr lang="el-GR" sz="1600" baseline="-25000" err="1"/>
              <a:t>x</a:t>
            </a:r>
            <a:r>
              <a:rPr lang="el-GR" sz="1600"/>
              <a:t> = 0.4 + (6 · 3.5) = 0.4 + 21 = </a:t>
            </a:r>
            <a:r>
              <a:rPr lang="el-GR" sz="1600" b="1"/>
              <a:t>21.4</a:t>
            </a:r>
          </a:p>
          <a:p>
            <a:pPr>
              <a:buNone/>
            </a:pPr>
            <a:r>
              <a:rPr lang="el-GR" sz="1600"/>
              <a:t>3.  </a:t>
            </a:r>
            <a:r>
              <a:rPr lang="el-GR" sz="1600" err="1"/>
              <a:t>dx</a:t>
            </a:r>
            <a:r>
              <a:rPr lang="el-GR" sz="1600"/>
              <a:t> = ⌊21.4⌋ = </a:t>
            </a:r>
            <a:r>
              <a:rPr lang="el-GR" sz="1600" b="1"/>
              <a:t>21</a:t>
            </a:r>
            <a:r>
              <a:rPr lang="el-GR" sz="1600"/>
              <a:t>   →  REL_X = 21 στον </a:t>
            </a:r>
            <a:r>
              <a:rPr lang="el-GR" sz="1600" err="1"/>
              <a:t>kernel</a:t>
            </a:r>
            <a:endParaRPr lang="el-GR" sz="1600"/>
          </a:p>
          <a:p>
            <a:pPr>
              <a:buNone/>
            </a:pPr>
            <a:r>
              <a:rPr lang="el-GR" sz="1600"/>
              <a:t>4.  </a:t>
            </a:r>
            <a:r>
              <a:rPr lang="el-GR" sz="1600" err="1"/>
              <a:t>A</a:t>
            </a:r>
            <a:r>
              <a:rPr lang="el-GR" sz="1600" baseline="-25000" err="1"/>
              <a:t>x,new</a:t>
            </a:r>
            <a:r>
              <a:rPr lang="el-GR" sz="1600"/>
              <a:t> = 21.4 − 21 = </a:t>
            </a:r>
            <a:r>
              <a:rPr lang="el-GR" sz="1600" b="1"/>
              <a:t>0.4</a:t>
            </a:r>
            <a:r>
              <a:rPr lang="el-GR" sz="1600"/>
              <a:t>   →  κρατείται για επόμενο frame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1B1AEE-1295-B9D9-2E8B-8027847F47CA}"/>
              </a:ext>
            </a:extLst>
          </p:cNvPr>
          <p:cNvSpPr/>
          <p:nvPr/>
        </p:nvSpPr>
        <p:spPr>
          <a:xfrm>
            <a:off x="8562701" y="2057439"/>
            <a:ext cx="835565" cy="364795"/>
          </a:xfrm>
          <a:prstGeom prst="rect">
            <a:avLst/>
          </a:prstGeom>
          <a:gradFill>
            <a:gsLst>
              <a:gs pos="0">
                <a:srgbClr val="0070C0">
                  <a:alpha val="25000"/>
                </a:srgbClr>
              </a:gs>
              <a:gs pos="100000">
                <a:srgbClr val="0A416A">
                  <a:alpha val="27000"/>
                </a:srgbClr>
              </a:gs>
            </a:gsLst>
            <a:lin ang="5400000" scaled="1"/>
          </a:gradFill>
          <a:ln>
            <a:noFill/>
          </a:ln>
          <a:effectLst>
            <a:softEdge rad="38100"/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663C1E-6DC3-5F74-F9E2-AE70FA5DF95F}"/>
              </a:ext>
            </a:extLst>
          </p:cNvPr>
          <p:cNvSpPr/>
          <p:nvPr/>
        </p:nvSpPr>
        <p:spPr>
          <a:xfrm>
            <a:off x="0" y="6437014"/>
            <a:ext cx="2713220" cy="420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D0DFE7-AC3F-0FEA-55A6-832C20CAAA68}"/>
              </a:ext>
            </a:extLst>
          </p:cNvPr>
          <p:cNvSpPr txBox="1"/>
          <p:nvPr/>
        </p:nvSpPr>
        <p:spPr>
          <a:xfrm>
            <a:off x="93688" y="6437014"/>
            <a:ext cx="6168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sub-pixel accumulation</a:t>
            </a:r>
          </a:p>
        </p:txBody>
      </p:sp>
    </p:spTree>
    <p:extLst>
      <p:ext uri="{BB962C8B-B14F-4D97-AF65-F5344CB8AC3E}">
        <p14:creationId xmlns:p14="http://schemas.microsoft.com/office/powerpoint/2010/main" val="636965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29961-1499-5965-7BBE-58F8518D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90D2498-3B64-4D78-6774-A2EEAE04BC91}"/>
              </a:ext>
            </a:extLst>
          </p:cNvPr>
          <p:cNvGrpSpPr/>
          <p:nvPr/>
        </p:nvGrpSpPr>
        <p:grpSpPr>
          <a:xfrm>
            <a:off x="678180" y="243841"/>
            <a:ext cx="10763250" cy="716279"/>
            <a:chOff x="678180" y="243841"/>
            <a:chExt cx="10763250" cy="716279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397E652-EDB6-D259-95C7-15DE3D23783E}"/>
                </a:ext>
              </a:extLst>
            </p:cNvPr>
            <p:cNvSpPr/>
            <p:nvPr/>
          </p:nvSpPr>
          <p:spPr>
            <a:xfrm>
              <a:off x="678180" y="243841"/>
              <a:ext cx="2210910" cy="694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F26881-40E0-6CA3-E880-1AFB81AEDF3A}"/>
                </a:ext>
              </a:extLst>
            </p:cNvPr>
            <p:cNvSpPr/>
            <p:nvPr/>
          </p:nvSpPr>
          <p:spPr>
            <a:xfrm>
              <a:off x="678180" y="243841"/>
              <a:ext cx="10682722" cy="716279"/>
            </a:xfrm>
            <a:prstGeom prst="rect">
              <a:avLst/>
            </a:prstGeom>
            <a:gradFill>
              <a:gsLst>
                <a:gs pos="0">
                  <a:srgbClr val="00FF00">
                    <a:alpha val="21000"/>
                  </a:srgbClr>
                </a:gs>
                <a:gs pos="79000">
                  <a:srgbClr val="DD0000">
                    <a:alpha val="16000"/>
                  </a:srgbClr>
                </a:gs>
                <a:gs pos="100000">
                  <a:srgbClr val="212B26">
                    <a:alpha val="22000"/>
                  </a:srgbClr>
                </a:gs>
              </a:gsLst>
              <a:lin ang="78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01E161-22CF-FBE7-870F-3121704BCB32}"/>
                </a:ext>
              </a:extLst>
            </p:cNvPr>
            <p:cNvSpPr txBox="1"/>
            <p:nvPr/>
          </p:nvSpPr>
          <p:spPr>
            <a:xfrm>
              <a:off x="750570" y="243841"/>
              <a:ext cx="106908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3600"/>
                <a:t>Αντιστοίχιση χειρονομιών σε ενέργειες συστήματος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8C86701-EE40-E913-24B7-B7AF7045F625}"/>
              </a:ext>
            </a:extLst>
          </p:cNvPr>
          <p:cNvGrpSpPr/>
          <p:nvPr/>
        </p:nvGrpSpPr>
        <p:grpSpPr>
          <a:xfrm>
            <a:off x="6124894" y="1319589"/>
            <a:ext cx="5477342" cy="1575479"/>
            <a:chOff x="6263968" y="2173754"/>
            <a:chExt cx="5477342" cy="1575479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48D5959-BB31-7191-8406-5C627D753141}"/>
                </a:ext>
              </a:extLst>
            </p:cNvPr>
            <p:cNvSpPr/>
            <p:nvPr/>
          </p:nvSpPr>
          <p:spPr>
            <a:xfrm>
              <a:off x="6263968" y="2173754"/>
              <a:ext cx="5199194" cy="1575479"/>
            </a:xfrm>
            <a:prstGeom prst="rect">
              <a:avLst/>
            </a:prstGeom>
            <a:gradFill>
              <a:gsLst>
                <a:gs pos="84000">
                  <a:srgbClr val="405153"/>
                </a:gs>
                <a:gs pos="2000">
                  <a:srgbClr val="1D2825"/>
                </a:gs>
              </a:gsLst>
              <a:lin ang="120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FE3D04-E70C-95EC-A4BF-0302EFC776BD}"/>
                </a:ext>
              </a:extLst>
            </p:cNvPr>
            <p:cNvSpPr txBox="1"/>
            <p:nvPr/>
          </p:nvSpPr>
          <p:spPr>
            <a:xfrm>
              <a:off x="6348348" y="2354706"/>
              <a:ext cx="539296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2400">
                  <a:solidFill>
                    <a:schemeClr val="bg1"/>
                  </a:solidFill>
                </a:rPr>
                <a:t>Ο συνδυασμός </a:t>
              </a:r>
              <a:r>
                <a:rPr lang="en-US" sz="2400">
                  <a:solidFill>
                    <a:schemeClr val="bg1"/>
                  </a:solidFill>
                </a:rPr>
                <a:t>Base &amp; Click Finger </a:t>
              </a:r>
              <a:r>
                <a:rPr lang="el-GR" sz="2400">
                  <a:solidFill>
                    <a:schemeClr val="bg1"/>
                  </a:solidFill>
                </a:rPr>
                <a:t>παράγει στιγμιαίο ή παρατεταμένο </a:t>
              </a:r>
              <a:r>
                <a:rPr lang="en-US" sz="2400">
                  <a:solidFill>
                    <a:schemeClr val="bg1"/>
                  </a:solidFill>
                </a:rPr>
                <a:t>Click</a:t>
              </a:r>
              <a:endParaRPr lang="el-GR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FC5FB5B-259B-D4A5-67E2-BC30FCDD4621}"/>
              </a:ext>
            </a:extLst>
          </p:cNvPr>
          <p:cNvGrpSpPr/>
          <p:nvPr/>
        </p:nvGrpSpPr>
        <p:grpSpPr>
          <a:xfrm>
            <a:off x="552706" y="1179332"/>
            <a:ext cx="5514401" cy="4962557"/>
            <a:chOff x="505140" y="1213935"/>
            <a:chExt cx="5514401" cy="496255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9E66AB-9581-7DB6-1AAE-5A0DB1528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510" y="2750821"/>
              <a:ext cx="2639150" cy="2618478"/>
            </a:xfrm>
            <a:prstGeom prst="rect">
              <a:avLst/>
            </a:prstGeom>
            <a:solidFill>
              <a:schemeClr val="bg1"/>
            </a:solidFill>
            <a:effectLst>
              <a:innerShdw blurRad="546100">
                <a:prstClr val="black"/>
              </a:innerShdw>
              <a:softEdge rad="63500"/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B89422E-F959-84B1-9496-BF8E42EED402}"/>
                </a:ext>
              </a:extLst>
            </p:cNvPr>
            <p:cNvSpPr txBox="1"/>
            <p:nvPr/>
          </p:nvSpPr>
          <p:spPr>
            <a:xfrm>
              <a:off x="2823140" y="2062530"/>
              <a:ext cx="1187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/>
                <a:t>Δεξί κλικ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03F4F23-23C3-F49E-2DD6-2BB071644DFC}"/>
                </a:ext>
              </a:extLst>
            </p:cNvPr>
            <p:cNvSpPr txBox="1"/>
            <p:nvPr/>
          </p:nvSpPr>
          <p:spPr>
            <a:xfrm>
              <a:off x="1310569" y="1629434"/>
              <a:ext cx="1253490" cy="667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/>
                <a:t>Αριστερό </a:t>
              </a:r>
            </a:p>
            <a:p>
              <a:pPr algn="ctr"/>
              <a:r>
                <a:rPr lang="el-GR"/>
                <a:t>κλικ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E4C3B2-20CE-CAF5-269A-1F14FB9A8124}"/>
                </a:ext>
              </a:extLst>
            </p:cNvPr>
            <p:cNvSpPr txBox="1"/>
            <p:nvPr/>
          </p:nvSpPr>
          <p:spPr>
            <a:xfrm>
              <a:off x="3697992" y="2911683"/>
              <a:ext cx="1461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/>
                <a:t>Μεσαίο κλικ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5D93916-2FE6-7B33-F216-8677AA7059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2687" y="2249772"/>
              <a:ext cx="305910" cy="891729"/>
            </a:xfrm>
            <a:prstGeom prst="straightConnector1">
              <a:avLst/>
            </a:prstGeom>
            <a:ln w="34925">
              <a:gradFill>
                <a:gsLst>
                  <a:gs pos="68000">
                    <a:srgbClr val="46AF00"/>
                  </a:gs>
                  <a:gs pos="19000">
                    <a:srgbClr val="151817"/>
                  </a:gs>
                  <a:gs pos="85000">
                    <a:srgbClr val="DD0000"/>
                  </a:gs>
                  <a:gs pos="49000">
                    <a:srgbClr val="00FF00"/>
                  </a:gs>
                  <a:gs pos="65000">
                    <a:srgbClr val="00FF00"/>
                  </a:gs>
                </a:gsLst>
                <a:lin ang="12600000" scaled="0"/>
              </a:gradFill>
              <a:tailEnd type="triangle"/>
            </a:ln>
            <a:effectLst>
              <a:glow rad="38100">
                <a:srgbClr val="FFFFFF">
                  <a:alpha val="26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598514F-B1FD-08A7-0424-68D37F57F2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9647" y="2305997"/>
              <a:ext cx="1035005" cy="617588"/>
            </a:xfrm>
            <a:prstGeom prst="straightConnector1">
              <a:avLst/>
            </a:prstGeom>
            <a:ln w="34925">
              <a:gradFill>
                <a:gsLst>
                  <a:gs pos="26000">
                    <a:srgbClr val="04D704"/>
                  </a:gs>
                  <a:gs pos="10000">
                    <a:srgbClr val="151817"/>
                  </a:gs>
                  <a:gs pos="91000">
                    <a:srgbClr val="DD0000"/>
                  </a:gs>
                  <a:gs pos="79000">
                    <a:srgbClr val="3DB900"/>
                  </a:gs>
                  <a:gs pos="69000">
                    <a:srgbClr val="00FF00"/>
                  </a:gs>
                </a:gsLst>
                <a:lin ang="10800000" scaled="0"/>
              </a:gradFill>
              <a:tailEnd type="triangle"/>
            </a:ln>
            <a:effectLst>
              <a:glow rad="38100">
                <a:srgbClr val="FFFFFF">
                  <a:alpha val="29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DE8D8D5-E111-BB64-9273-C9FA965EBB1D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 flipV="1">
              <a:off x="2270422" y="3096349"/>
              <a:ext cx="1427570" cy="58520"/>
            </a:xfrm>
            <a:prstGeom prst="straightConnector1">
              <a:avLst/>
            </a:prstGeom>
            <a:ln w="34925">
              <a:gradFill>
                <a:gsLst>
                  <a:gs pos="51000">
                    <a:srgbClr val="DD0000"/>
                  </a:gs>
                  <a:gs pos="41000">
                    <a:srgbClr val="3FB600"/>
                  </a:gs>
                  <a:gs pos="12000">
                    <a:srgbClr val="151817"/>
                  </a:gs>
                  <a:gs pos="65000">
                    <a:srgbClr val="DD0000"/>
                  </a:gs>
                  <a:gs pos="19000">
                    <a:srgbClr val="00FF00"/>
                  </a:gs>
                </a:gsLst>
                <a:lin ang="10800000" scaled="0"/>
              </a:gradFill>
              <a:tailEnd type="triangle"/>
            </a:ln>
            <a:effectLst>
              <a:glow rad="38100">
                <a:srgbClr val="FFFFFF">
                  <a:alpha val="4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1A3A467-2B18-8745-A8D5-C30E4F0FCDC6}"/>
                </a:ext>
              </a:extLst>
            </p:cNvPr>
            <p:cNvSpPr/>
            <p:nvPr/>
          </p:nvSpPr>
          <p:spPr>
            <a:xfrm>
              <a:off x="2595583" y="1464249"/>
              <a:ext cx="2830189" cy="1816766"/>
            </a:xfrm>
            <a:custGeom>
              <a:avLst/>
              <a:gdLst>
                <a:gd name="csX0" fmla="*/ 0 w 2830189"/>
                <a:gd name="csY0" fmla="*/ 155606 h 1816766"/>
                <a:gd name="csX1" fmla="*/ 1363980 w 2830189"/>
                <a:gd name="csY1" fmla="*/ 48926 h 1816766"/>
                <a:gd name="csX2" fmla="*/ 1379220 w 2830189"/>
                <a:gd name="csY2" fmla="*/ 849026 h 1816766"/>
                <a:gd name="csX3" fmla="*/ 2255520 w 2830189"/>
                <a:gd name="csY3" fmla="*/ 315626 h 1816766"/>
                <a:gd name="csX4" fmla="*/ 1577340 w 2830189"/>
                <a:gd name="csY4" fmla="*/ 1009046 h 1816766"/>
                <a:gd name="csX5" fmla="*/ 2788920 w 2830189"/>
                <a:gd name="csY5" fmla="*/ 856646 h 1816766"/>
                <a:gd name="csX6" fmla="*/ 2613660 w 2830189"/>
                <a:gd name="csY6" fmla="*/ 1816766 h 1816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830189" h="1816766">
                  <a:moveTo>
                    <a:pt x="0" y="155606"/>
                  </a:moveTo>
                  <a:cubicBezTo>
                    <a:pt x="567055" y="44481"/>
                    <a:pt x="1134110" y="-66644"/>
                    <a:pt x="1363980" y="48926"/>
                  </a:cubicBezTo>
                  <a:cubicBezTo>
                    <a:pt x="1593850" y="164496"/>
                    <a:pt x="1230630" y="804576"/>
                    <a:pt x="1379220" y="849026"/>
                  </a:cubicBezTo>
                  <a:cubicBezTo>
                    <a:pt x="1527810" y="893476"/>
                    <a:pt x="2222500" y="288956"/>
                    <a:pt x="2255520" y="315626"/>
                  </a:cubicBezTo>
                  <a:cubicBezTo>
                    <a:pt x="2288540" y="342296"/>
                    <a:pt x="1488440" y="918876"/>
                    <a:pt x="1577340" y="1009046"/>
                  </a:cubicBezTo>
                  <a:cubicBezTo>
                    <a:pt x="1666240" y="1099216"/>
                    <a:pt x="2616200" y="722026"/>
                    <a:pt x="2788920" y="856646"/>
                  </a:cubicBezTo>
                  <a:cubicBezTo>
                    <a:pt x="2961640" y="991266"/>
                    <a:pt x="2531110" y="1604676"/>
                    <a:pt x="2613660" y="181676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6E9F225-E36F-2254-E4FB-162FB735E71B}"/>
                </a:ext>
              </a:extLst>
            </p:cNvPr>
            <p:cNvSpPr txBox="1"/>
            <p:nvPr/>
          </p:nvSpPr>
          <p:spPr>
            <a:xfrm>
              <a:off x="4832003" y="1213935"/>
              <a:ext cx="118753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Click Fingers</a:t>
              </a:r>
              <a:endParaRPr lang="el-GR" sz="240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3D41DFC-BB5C-21D8-F0C9-67876D87C608}"/>
                </a:ext>
              </a:extLst>
            </p:cNvPr>
            <p:cNvCxnSpPr>
              <a:cxnSpLocks/>
            </p:cNvCxnSpPr>
            <p:nvPr/>
          </p:nvCxnSpPr>
          <p:spPr>
            <a:xfrm>
              <a:off x="842852" y="4488844"/>
              <a:ext cx="284908" cy="1278661"/>
            </a:xfrm>
            <a:prstGeom prst="straightConnector1">
              <a:avLst/>
            </a:prstGeom>
            <a:ln w="34925">
              <a:gradFill>
                <a:gsLst>
                  <a:gs pos="13000">
                    <a:srgbClr val="151817"/>
                  </a:gs>
                  <a:gs pos="49000">
                    <a:srgbClr val="DD0000"/>
                  </a:gs>
                  <a:gs pos="20000">
                    <a:srgbClr val="099C0A"/>
                  </a:gs>
                  <a:gs pos="40000">
                    <a:srgbClr val="00FF00"/>
                  </a:gs>
                </a:gsLst>
                <a:lin ang="14400000" scaled="0"/>
              </a:gradFill>
              <a:tailEnd type="triangle"/>
            </a:ln>
            <a:effectLst>
              <a:glow rad="76200">
                <a:srgbClr val="FFFFFF">
                  <a:alpha val="35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AF9F448-B2AC-0494-48F6-062C0C6DC655}"/>
                </a:ext>
              </a:extLst>
            </p:cNvPr>
            <p:cNvSpPr txBox="1"/>
            <p:nvPr/>
          </p:nvSpPr>
          <p:spPr>
            <a:xfrm>
              <a:off x="505140" y="5714827"/>
              <a:ext cx="18062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Base Finger</a:t>
              </a:r>
              <a:endParaRPr lang="el-GR" sz="240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4C204EE-0312-D832-73CF-1B93E95C1E23}"/>
                </a:ext>
              </a:extLst>
            </p:cNvPr>
            <p:cNvCxnSpPr>
              <a:cxnSpLocks/>
            </p:cNvCxnSpPr>
            <p:nvPr/>
          </p:nvCxnSpPr>
          <p:spPr>
            <a:xfrm>
              <a:off x="2063196" y="5170196"/>
              <a:ext cx="350006" cy="285724"/>
            </a:xfrm>
            <a:prstGeom prst="straightConnector1">
              <a:avLst/>
            </a:prstGeom>
            <a:ln w="34925">
              <a:gradFill>
                <a:gsLst>
                  <a:gs pos="12000">
                    <a:srgbClr val="151817"/>
                  </a:gs>
                  <a:gs pos="65000">
                    <a:srgbClr val="DD0000"/>
                  </a:gs>
                  <a:gs pos="19000">
                    <a:srgbClr val="00FF00"/>
                  </a:gs>
                </a:gsLst>
                <a:lin ang="13800000" scaled="0"/>
              </a:gradFill>
              <a:tailEnd type="triangle"/>
            </a:ln>
            <a:effectLst>
              <a:glow rad="76200">
                <a:srgbClr val="FFFFFF">
                  <a:alpha val="32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610EB38-CD64-4A00-5989-82C544116371}"/>
                </a:ext>
              </a:extLst>
            </p:cNvPr>
            <p:cNvSpPr txBox="1"/>
            <p:nvPr/>
          </p:nvSpPr>
          <p:spPr>
            <a:xfrm>
              <a:off x="2388332" y="5313058"/>
              <a:ext cx="142757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 sz="1400"/>
                <a:t>Σημείο Κέρσορα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F6280AC-4FEB-7F73-F4F9-9DA99FDD7286}"/>
              </a:ext>
            </a:extLst>
          </p:cNvPr>
          <p:cNvGrpSpPr/>
          <p:nvPr/>
        </p:nvGrpSpPr>
        <p:grpSpPr>
          <a:xfrm>
            <a:off x="5994586" y="5278455"/>
            <a:ext cx="5199194" cy="923330"/>
            <a:chOff x="6263968" y="4210416"/>
            <a:chExt cx="5199194" cy="1821449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A358671-9267-44D6-CC01-5606686D4E16}"/>
                </a:ext>
              </a:extLst>
            </p:cNvPr>
            <p:cNvSpPr/>
            <p:nvPr/>
          </p:nvSpPr>
          <p:spPr>
            <a:xfrm>
              <a:off x="6263968" y="4216251"/>
              <a:ext cx="5199194" cy="1789760"/>
            </a:xfrm>
            <a:prstGeom prst="rect">
              <a:avLst/>
            </a:prstGeom>
            <a:gradFill>
              <a:gsLst>
                <a:gs pos="84000">
                  <a:srgbClr val="405153"/>
                </a:gs>
                <a:gs pos="2000">
                  <a:srgbClr val="1D2825"/>
                </a:gs>
              </a:gsLst>
              <a:lin ang="120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1DFF831-7EB7-6FD3-685B-B8A1049322FD}"/>
                </a:ext>
              </a:extLst>
            </p:cNvPr>
            <p:cNvSpPr txBox="1"/>
            <p:nvPr/>
          </p:nvSpPr>
          <p:spPr>
            <a:xfrm>
              <a:off x="6339231" y="4210416"/>
              <a:ext cx="4955963" cy="1821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>
                  <a:solidFill>
                    <a:schemeClr val="bg1"/>
                  </a:solidFill>
                </a:rPr>
                <a:t>Για να εντοπίσουμε μια χειρονομία λοιπόν χρειαζόμαστε την τωρινή και την προηγούμενη κατάσταση χειρονομίας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2D9A658-CAE6-1C37-B35B-16EDAD325EBA}"/>
              </a:ext>
            </a:extLst>
          </p:cNvPr>
          <p:cNvGrpSpPr/>
          <p:nvPr/>
        </p:nvGrpSpPr>
        <p:grpSpPr>
          <a:xfrm>
            <a:off x="6124894" y="3009035"/>
            <a:ext cx="5199194" cy="365125"/>
            <a:chOff x="6263968" y="4216251"/>
            <a:chExt cx="5199194" cy="1053019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A23D644-A150-78C2-7CF5-BBB196BBD6F4}"/>
                </a:ext>
              </a:extLst>
            </p:cNvPr>
            <p:cNvSpPr/>
            <p:nvPr/>
          </p:nvSpPr>
          <p:spPr>
            <a:xfrm>
              <a:off x="6263968" y="4216251"/>
              <a:ext cx="5199194" cy="1053019"/>
            </a:xfrm>
            <a:prstGeom prst="rect">
              <a:avLst/>
            </a:prstGeom>
            <a:gradFill>
              <a:gsLst>
                <a:gs pos="84000">
                  <a:srgbClr val="405153"/>
                </a:gs>
                <a:gs pos="2000">
                  <a:srgbClr val="1D2825"/>
                </a:gs>
              </a:gsLst>
              <a:lin ang="120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DAAA1E2-401F-B771-0C79-511EFD8E4169}"/>
                </a:ext>
              </a:extLst>
            </p:cNvPr>
            <p:cNvSpPr txBox="1"/>
            <p:nvPr/>
          </p:nvSpPr>
          <p:spPr>
            <a:xfrm>
              <a:off x="6474128" y="4233968"/>
              <a:ext cx="49559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>
                  <a:solidFill>
                    <a:schemeClr val="bg1"/>
                  </a:solidFill>
                </a:rPr>
                <a:t>Η κλασσική χειρονομία κλικ (το απλό πάτημα)</a:t>
              </a:r>
            </a:p>
          </p:txBody>
        </p:sp>
      </p:grpSp>
      <p:pic>
        <p:nvPicPr>
          <p:cNvPr id="76" name="Picture 75">
            <a:extLst>
              <a:ext uri="{FF2B5EF4-FFF2-40B4-BE49-F238E27FC236}">
                <a16:creationId xmlns:a16="http://schemas.microsoft.com/office/drawing/2014/main" id="{0EC27F94-AC06-BCF9-B0A1-0B570AFF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725" y="3867760"/>
            <a:ext cx="1789955" cy="1194795"/>
          </a:xfrm>
          <a:prstGeom prst="rect">
            <a:avLst/>
          </a:prstGeom>
          <a:effectLst/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id="{B58C9BBA-0781-B114-31DB-FE7B7D61E98B}"/>
              </a:ext>
            </a:extLst>
          </p:cNvPr>
          <p:cNvGrpSpPr/>
          <p:nvPr/>
        </p:nvGrpSpPr>
        <p:grpSpPr>
          <a:xfrm>
            <a:off x="8936694" y="4372428"/>
            <a:ext cx="1631472" cy="663943"/>
            <a:chOff x="8934050" y="4210839"/>
            <a:chExt cx="1631472" cy="663943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8E70E0C3-C188-01C4-5EC0-FEA5BA36C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4430" r="8854"/>
            <a:stretch>
              <a:fillRect/>
            </a:stretch>
          </p:blipFill>
          <p:spPr>
            <a:xfrm>
              <a:off x="8934050" y="4210839"/>
              <a:ext cx="1631472" cy="663943"/>
            </a:xfrm>
            <a:prstGeom prst="rect">
              <a:avLst/>
            </a:prstGeom>
          </p:spPr>
        </p:pic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7A97048-FD6E-E1ED-4736-BD8B069CE04F}"/>
                </a:ext>
              </a:extLst>
            </p:cNvPr>
            <p:cNvSpPr/>
            <p:nvPr/>
          </p:nvSpPr>
          <p:spPr>
            <a:xfrm rot="3292441">
              <a:off x="9373119" y="4104083"/>
              <a:ext cx="164279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5E378DE-87B1-C3F2-6AC3-81B6A41D26A0}"/>
                </a:ext>
              </a:extLst>
            </p:cNvPr>
            <p:cNvSpPr/>
            <p:nvPr/>
          </p:nvSpPr>
          <p:spPr>
            <a:xfrm rot="7692699">
              <a:off x="9377881" y="4623688"/>
              <a:ext cx="125357" cy="345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3B815EF-1D1E-7697-CC00-9BD81C3D9879}"/>
                  </a:ext>
                </a:extLst>
              </p:cNvPr>
              <p:cNvSpPr txBox="1"/>
              <p:nvPr/>
            </p:nvSpPr>
            <p:spPr>
              <a:xfrm>
                <a:off x="6698725" y="3384869"/>
                <a:ext cx="6425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3B815EF-1D1E-7697-CC00-9BD81C3D9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725" y="3384869"/>
                <a:ext cx="64254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A3B67FE-F8EC-AF77-E7B6-964DFDF256AC}"/>
                  </a:ext>
                </a:extLst>
              </p:cNvPr>
              <p:cNvSpPr txBox="1"/>
              <p:nvPr/>
            </p:nvSpPr>
            <p:spPr>
              <a:xfrm>
                <a:off x="9058434" y="3437908"/>
                <a:ext cx="64575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3200" b="1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A3B67FE-F8EC-AF77-E7B6-964DFDF25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8434" y="3437908"/>
                <a:ext cx="64575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D7F27ABD-FAAC-1D49-CAFF-730636EB9EDF}"/>
              </a:ext>
            </a:extLst>
          </p:cNvPr>
          <p:cNvSpPr txBox="1"/>
          <p:nvPr/>
        </p:nvSpPr>
        <p:spPr>
          <a:xfrm>
            <a:off x="10277905" y="4568660"/>
            <a:ext cx="4924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/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6603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30FEB752-2D91-5E33-C04C-1E4F1AA1AD07}"/>
              </a:ext>
            </a:extLst>
          </p:cNvPr>
          <p:cNvSpPr/>
          <p:nvPr/>
        </p:nvSpPr>
        <p:spPr>
          <a:xfrm>
            <a:off x="6173910" y="4174024"/>
            <a:ext cx="4341689" cy="1532260"/>
          </a:xfrm>
          <a:prstGeom prst="roundRect">
            <a:avLst/>
          </a:prstGeom>
          <a:gradFill>
            <a:gsLst>
              <a:gs pos="0">
                <a:srgbClr val="908A82">
                  <a:alpha val="21000"/>
                </a:srgbClr>
              </a:gs>
              <a:gs pos="100000">
                <a:srgbClr val="212B26">
                  <a:alpha val="0"/>
                </a:srgbClr>
              </a:gs>
            </a:gsLst>
            <a:lin ang="7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04269EE2-A27A-3FC3-99A8-D64BC6EA62E4}"/>
              </a:ext>
            </a:extLst>
          </p:cNvPr>
          <p:cNvSpPr/>
          <p:nvPr/>
        </p:nvSpPr>
        <p:spPr>
          <a:xfrm>
            <a:off x="1277773" y="4174024"/>
            <a:ext cx="4693215" cy="1532260"/>
          </a:xfrm>
          <a:prstGeom prst="roundRect">
            <a:avLst/>
          </a:prstGeom>
          <a:gradFill>
            <a:gsLst>
              <a:gs pos="0">
                <a:srgbClr val="908A82">
                  <a:alpha val="21000"/>
                </a:srgbClr>
              </a:gs>
              <a:gs pos="100000">
                <a:srgbClr val="212B26">
                  <a:alpha val="0"/>
                </a:srgbClr>
              </a:gs>
            </a:gsLst>
            <a:lin ang="7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88D38-9B54-161D-7817-4C425E21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CA7AF51-78BB-7CDC-CB95-C36D02960DDE}"/>
              </a:ext>
            </a:extLst>
          </p:cNvPr>
          <p:cNvGrpSpPr/>
          <p:nvPr/>
        </p:nvGrpSpPr>
        <p:grpSpPr>
          <a:xfrm>
            <a:off x="1391164" y="1562775"/>
            <a:ext cx="1418685" cy="1289904"/>
            <a:chOff x="6688995" y="1079358"/>
            <a:chExt cx="2569416" cy="2336177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E9B7307-5862-1BDB-016C-6D968DD591BF}"/>
                </a:ext>
              </a:extLst>
            </p:cNvPr>
            <p:cNvGrpSpPr/>
            <p:nvPr/>
          </p:nvGrpSpPr>
          <p:grpSpPr>
            <a:xfrm>
              <a:off x="6688995" y="1079358"/>
              <a:ext cx="2361742" cy="2183647"/>
              <a:chOff x="6688995" y="1079358"/>
              <a:chExt cx="2361742" cy="2183647"/>
            </a:xfrm>
          </p:grpSpPr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AB954E96-B0B9-E1D2-DCFF-97F722AF4A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88995" y="1079358"/>
                <a:ext cx="1946394" cy="1931148"/>
              </a:xfrm>
              <a:prstGeom prst="rect">
                <a:avLst/>
              </a:prstGeom>
              <a:solidFill>
                <a:schemeClr val="bg1"/>
              </a:solidFill>
              <a:effectLst>
                <a:innerShdw blurRad="546100">
                  <a:prstClr val="black"/>
                </a:innerShdw>
                <a:softEdge rad="63500"/>
              </a:effectLst>
            </p:spPr>
          </p:pic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315D441B-3DAA-7B6A-931D-7CA7B4E0E0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96669" y="1161491"/>
                <a:ext cx="1946394" cy="1931148"/>
              </a:xfrm>
              <a:prstGeom prst="rect">
                <a:avLst/>
              </a:prstGeom>
              <a:solidFill>
                <a:schemeClr val="bg1"/>
              </a:solidFill>
              <a:effectLst>
                <a:innerShdw blurRad="546100">
                  <a:prstClr val="black"/>
                </a:innerShdw>
                <a:softEdge rad="63500"/>
              </a:effectLst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9A7A4ECD-0D92-21E9-8187-0B2E513E04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04343" y="1331857"/>
                <a:ext cx="1946394" cy="1931148"/>
              </a:xfrm>
              <a:prstGeom prst="rect">
                <a:avLst/>
              </a:prstGeom>
              <a:solidFill>
                <a:schemeClr val="bg1"/>
              </a:solidFill>
              <a:effectLst>
                <a:innerShdw blurRad="546100">
                  <a:prstClr val="black"/>
                </a:innerShdw>
                <a:softEdge rad="63500"/>
              </a:effectLst>
            </p:spPr>
          </p:pic>
        </p:grp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BC30BD24-E0CA-9F67-9DF2-5A24227C8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2017" y="1484387"/>
              <a:ext cx="1946394" cy="1931148"/>
            </a:xfrm>
            <a:prstGeom prst="rect">
              <a:avLst/>
            </a:prstGeom>
            <a:solidFill>
              <a:schemeClr val="bg1"/>
            </a:solidFill>
            <a:effectLst>
              <a:innerShdw blurRad="546100">
                <a:prstClr val="black"/>
              </a:innerShdw>
              <a:softEdge rad="63500"/>
            </a:effec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9CE1F45-A9CF-3676-3905-C1A6A3F31E95}"/>
              </a:ext>
            </a:extLst>
          </p:cNvPr>
          <p:cNvGrpSpPr/>
          <p:nvPr/>
        </p:nvGrpSpPr>
        <p:grpSpPr>
          <a:xfrm>
            <a:off x="678180" y="243841"/>
            <a:ext cx="10763250" cy="716279"/>
            <a:chOff x="678180" y="243841"/>
            <a:chExt cx="10763250" cy="71627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522BDB-460B-9D30-E6C6-FF3196CC1226}"/>
                </a:ext>
              </a:extLst>
            </p:cNvPr>
            <p:cNvSpPr/>
            <p:nvPr/>
          </p:nvSpPr>
          <p:spPr>
            <a:xfrm>
              <a:off x="678180" y="243841"/>
              <a:ext cx="2210910" cy="694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1D0278-512A-8CBE-16C8-D8E69CE5DF91}"/>
                </a:ext>
              </a:extLst>
            </p:cNvPr>
            <p:cNvSpPr/>
            <p:nvPr/>
          </p:nvSpPr>
          <p:spPr>
            <a:xfrm>
              <a:off x="678180" y="243841"/>
              <a:ext cx="10682722" cy="716279"/>
            </a:xfrm>
            <a:prstGeom prst="rect">
              <a:avLst/>
            </a:prstGeom>
            <a:gradFill>
              <a:gsLst>
                <a:gs pos="0">
                  <a:srgbClr val="908A82">
                    <a:alpha val="85000"/>
                  </a:srgbClr>
                </a:gs>
                <a:gs pos="100000">
                  <a:srgbClr val="212B26">
                    <a:alpha val="0"/>
                  </a:srgbClr>
                </a:gs>
              </a:gsLst>
              <a:lin ang="78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3AAB81-6F65-8554-16C9-50A8E747930C}"/>
                </a:ext>
              </a:extLst>
            </p:cNvPr>
            <p:cNvSpPr txBox="1"/>
            <p:nvPr/>
          </p:nvSpPr>
          <p:spPr>
            <a:xfrm>
              <a:off x="750570" y="243841"/>
              <a:ext cx="106908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3600" dirty="0"/>
                <a:t>Πως βρίσκουμε τις καταστάσεις χειρονομίας?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BB625A6-CFCD-CB09-4C07-2094A8AB878F}"/>
              </a:ext>
            </a:extLst>
          </p:cNvPr>
          <p:cNvCxnSpPr>
            <a:cxnSpLocks/>
          </p:cNvCxnSpPr>
          <p:nvPr/>
        </p:nvCxnSpPr>
        <p:spPr>
          <a:xfrm flipV="1">
            <a:off x="2894924" y="2235326"/>
            <a:ext cx="898575" cy="70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4A08FB3-4F9D-E1D9-00B1-3B3A0282EDB7}"/>
              </a:ext>
            </a:extLst>
          </p:cNvPr>
          <p:cNvSpPr txBox="1"/>
          <p:nvPr/>
        </p:nvSpPr>
        <p:spPr>
          <a:xfrm>
            <a:off x="2889090" y="1853945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/>
              <a:t>έχουμε</a:t>
            </a:r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3A97EE-37DD-F5C9-2630-28C0DBC001B3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559637" y="2188934"/>
            <a:ext cx="726849" cy="1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F92557-7C7A-26A8-F0F7-44E880185A9E}"/>
              </a:ext>
            </a:extLst>
          </p:cNvPr>
          <p:cNvSpPr txBox="1"/>
          <p:nvPr/>
        </p:nvSpPr>
        <p:spPr>
          <a:xfrm>
            <a:off x="555452" y="1804213"/>
            <a:ext cx="7310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/>
              <a:t>Για</a:t>
            </a:r>
            <a:endParaRPr lang="en-US"/>
          </a:p>
          <a:p>
            <a:pPr algn="ctr"/>
            <a:endParaRPr lang="en-US" sz="800"/>
          </a:p>
          <a:p>
            <a:pPr algn="ctr"/>
            <a:r>
              <a:rPr lang="el-GR"/>
              <a:t>κάθε </a:t>
            </a: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6F7E23-A76B-9557-776E-2BD13AB6756D}"/>
              </a:ext>
            </a:extLst>
          </p:cNvPr>
          <p:cNvSpPr/>
          <p:nvPr/>
        </p:nvSpPr>
        <p:spPr>
          <a:xfrm>
            <a:off x="3958559" y="1402075"/>
            <a:ext cx="2018898" cy="1443532"/>
          </a:xfrm>
          <a:prstGeom prst="rect">
            <a:avLst/>
          </a:prstGeom>
          <a:solidFill>
            <a:srgbClr val="908A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43061D-771E-FC6F-73E8-797192BF8517}"/>
              </a:ext>
            </a:extLst>
          </p:cNvPr>
          <p:cNvGrpSpPr/>
          <p:nvPr/>
        </p:nvGrpSpPr>
        <p:grpSpPr>
          <a:xfrm>
            <a:off x="4122434" y="1410601"/>
            <a:ext cx="1634593" cy="461665"/>
            <a:chOff x="4682937" y="1168512"/>
            <a:chExt cx="1634593" cy="46166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C61FEB6-2482-DA72-150B-B31605F023CE}"/>
                </a:ext>
              </a:extLst>
            </p:cNvPr>
            <p:cNvGrpSpPr/>
            <p:nvPr/>
          </p:nvGrpSpPr>
          <p:grpSpPr>
            <a:xfrm>
              <a:off x="5874469" y="1181310"/>
              <a:ext cx="443061" cy="430487"/>
              <a:chOff x="5157237" y="1181368"/>
              <a:chExt cx="443061" cy="43048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7D01E8E-431B-CEDC-6317-33A575A98D6B}"/>
                  </a:ext>
                </a:extLst>
              </p:cNvPr>
              <p:cNvSpPr/>
              <p:nvPr/>
            </p:nvSpPr>
            <p:spPr>
              <a:xfrm>
                <a:off x="5157237" y="1243804"/>
                <a:ext cx="443061" cy="36805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2ECDB32-3A8F-E19D-759C-9D9AACFBC232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345" y="1181368"/>
                    <a:ext cx="18911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2ECDB32-3A8F-E19D-759C-9D9AACFBC2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345" y="1181368"/>
                    <a:ext cx="189113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93548" b="-81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AF053C1-53EF-79F7-AF3A-D7712492F331}"/>
                </a:ext>
              </a:extLst>
            </p:cNvPr>
            <p:cNvGrpSpPr/>
            <p:nvPr/>
          </p:nvGrpSpPr>
          <p:grpSpPr>
            <a:xfrm>
              <a:off x="5306980" y="1214679"/>
              <a:ext cx="443061" cy="397118"/>
              <a:chOff x="4616619" y="1211888"/>
              <a:chExt cx="443061" cy="39711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FBEC3F9-7F86-820D-6393-DCF90FC5D9C1}"/>
                  </a:ext>
                </a:extLst>
              </p:cNvPr>
              <p:cNvSpPr/>
              <p:nvPr/>
            </p:nvSpPr>
            <p:spPr>
              <a:xfrm>
                <a:off x="4616619" y="1240954"/>
                <a:ext cx="443061" cy="36805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BB1470BE-773C-4781-E0E2-931FFB1D74B9}"/>
                      </a:ext>
                    </a:extLst>
                  </p:cNvPr>
                  <p:cNvSpPr txBox="1"/>
                  <p:nvPr/>
                </p:nvSpPr>
                <p:spPr>
                  <a:xfrm>
                    <a:off x="4633727" y="1211888"/>
                    <a:ext cx="23243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BB1470BE-773C-4781-E0E2-931FFB1D74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3727" y="1211888"/>
                    <a:ext cx="23243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5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F05C984-4406-75F0-2C78-ABAB1A409F47}"/>
                </a:ext>
              </a:extLst>
            </p:cNvPr>
            <p:cNvGrpSpPr/>
            <p:nvPr/>
          </p:nvGrpSpPr>
          <p:grpSpPr>
            <a:xfrm>
              <a:off x="4682937" y="1236158"/>
              <a:ext cx="443061" cy="383225"/>
              <a:chOff x="4616619" y="1225781"/>
              <a:chExt cx="443061" cy="383225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C648A8B-39C4-5597-3AEF-859523A04B4C}"/>
                  </a:ext>
                </a:extLst>
              </p:cNvPr>
              <p:cNvSpPr/>
              <p:nvPr/>
            </p:nvSpPr>
            <p:spPr>
              <a:xfrm>
                <a:off x="4616619" y="1240954"/>
                <a:ext cx="443061" cy="36805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E27A520-8DF2-417E-EBAE-CFF873844CF9}"/>
                  </a:ext>
                </a:extLst>
              </p:cNvPr>
              <p:cNvSpPr txBox="1"/>
              <p:nvPr/>
            </p:nvSpPr>
            <p:spPr>
              <a:xfrm>
                <a:off x="4693936" y="1225781"/>
                <a:ext cx="2324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</a:t>
                </a:r>
                <a:endParaRPr lang="en-US" b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B4BA57D-7A09-E5B5-28D6-E94E93C3A5FA}"/>
                </a:ext>
              </a:extLst>
            </p:cNvPr>
            <p:cNvSpPr txBox="1"/>
            <p:nvPr/>
          </p:nvSpPr>
          <p:spPr>
            <a:xfrm>
              <a:off x="5097523" y="1168512"/>
              <a:ext cx="2603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</a:t>
              </a:r>
              <a:endPara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E4AF9E3-1B2D-A851-B251-FC619C373382}"/>
              </a:ext>
            </a:extLst>
          </p:cNvPr>
          <p:cNvGrpSpPr/>
          <p:nvPr/>
        </p:nvGrpSpPr>
        <p:grpSpPr>
          <a:xfrm>
            <a:off x="4122434" y="1838395"/>
            <a:ext cx="1634593" cy="461665"/>
            <a:chOff x="4682937" y="1168512"/>
            <a:chExt cx="1634593" cy="46166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1001315-D100-48FD-B0EC-7A73445A080D}"/>
                </a:ext>
              </a:extLst>
            </p:cNvPr>
            <p:cNvGrpSpPr/>
            <p:nvPr/>
          </p:nvGrpSpPr>
          <p:grpSpPr>
            <a:xfrm>
              <a:off x="5874469" y="1181310"/>
              <a:ext cx="443061" cy="430487"/>
              <a:chOff x="5157237" y="1181368"/>
              <a:chExt cx="443061" cy="430488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8320BAD-92AC-38D3-3BC9-496D2FD67E22}"/>
                  </a:ext>
                </a:extLst>
              </p:cNvPr>
              <p:cNvSpPr/>
              <p:nvPr/>
            </p:nvSpPr>
            <p:spPr>
              <a:xfrm>
                <a:off x="5157237" y="1243804"/>
                <a:ext cx="443061" cy="36805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C9E7DBBB-1C50-EB5C-9048-117B18337EB7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345" y="1181368"/>
                    <a:ext cx="18911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C9E7DBBB-1C50-EB5C-9048-117B18337E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345" y="1181368"/>
                    <a:ext cx="189113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90323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D3CC8AA-9F19-5F85-3BC7-E61E68D41CFE}"/>
                </a:ext>
              </a:extLst>
            </p:cNvPr>
            <p:cNvGrpSpPr/>
            <p:nvPr/>
          </p:nvGrpSpPr>
          <p:grpSpPr>
            <a:xfrm>
              <a:off x="5306980" y="1214679"/>
              <a:ext cx="443061" cy="397118"/>
              <a:chOff x="4616619" y="1211888"/>
              <a:chExt cx="443061" cy="397118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0FF8C30-869D-0EAD-C69D-9144DF00B506}"/>
                  </a:ext>
                </a:extLst>
              </p:cNvPr>
              <p:cNvSpPr/>
              <p:nvPr/>
            </p:nvSpPr>
            <p:spPr>
              <a:xfrm>
                <a:off x="4616619" y="1240954"/>
                <a:ext cx="443061" cy="36805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254FE71-B6E8-BFB1-E864-8649F2F473FD}"/>
                      </a:ext>
                    </a:extLst>
                  </p:cNvPr>
                  <p:cNvSpPr txBox="1"/>
                  <p:nvPr/>
                </p:nvSpPr>
                <p:spPr>
                  <a:xfrm>
                    <a:off x="4633727" y="1211888"/>
                    <a:ext cx="23243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254FE71-B6E8-BFB1-E864-8649F2F473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3727" y="1211888"/>
                    <a:ext cx="232431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512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F8D2271-72CD-7276-8D39-CA70D1C8DFF6}"/>
                </a:ext>
              </a:extLst>
            </p:cNvPr>
            <p:cNvGrpSpPr/>
            <p:nvPr/>
          </p:nvGrpSpPr>
          <p:grpSpPr>
            <a:xfrm>
              <a:off x="4682937" y="1236158"/>
              <a:ext cx="443061" cy="383225"/>
              <a:chOff x="4616619" y="1225781"/>
              <a:chExt cx="443061" cy="383225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B6D415F-DA4D-A0B0-457A-0EF5EB4CF595}"/>
                  </a:ext>
                </a:extLst>
              </p:cNvPr>
              <p:cNvSpPr/>
              <p:nvPr/>
            </p:nvSpPr>
            <p:spPr>
              <a:xfrm>
                <a:off x="4616619" y="1240954"/>
                <a:ext cx="443061" cy="36805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2840F5A-A3DB-1C26-A34A-3D7DA7BAF225}"/>
                  </a:ext>
                </a:extLst>
              </p:cNvPr>
              <p:cNvSpPr txBox="1"/>
              <p:nvPr/>
            </p:nvSpPr>
            <p:spPr>
              <a:xfrm>
                <a:off x="4693936" y="1225781"/>
                <a:ext cx="2324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9379482-0486-506A-FDD8-585758801BBD}"/>
                </a:ext>
              </a:extLst>
            </p:cNvPr>
            <p:cNvSpPr txBox="1"/>
            <p:nvPr/>
          </p:nvSpPr>
          <p:spPr>
            <a:xfrm>
              <a:off x="5097523" y="1168512"/>
              <a:ext cx="2603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</a:t>
              </a:r>
              <a:endPara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9BC1152-F8C3-7FFF-102A-1D483A0437D7}"/>
              </a:ext>
            </a:extLst>
          </p:cNvPr>
          <p:cNvGrpSpPr/>
          <p:nvPr/>
        </p:nvGrpSpPr>
        <p:grpSpPr>
          <a:xfrm>
            <a:off x="4122434" y="2296853"/>
            <a:ext cx="1634593" cy="461665"/>
            <a:chOff x="4682937" y="1168512"/>
            <a:chExt cx="1634593" cy="461665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1B8501A-B85F-49B7-B664-FEA8B630EEE8}"/>
                </a:ext>
              </a:extLst>
            </p:cNvPr>
            <p:cNvGrpSpPr/>
            <p:nvPr/>
          </p:nvGrpSpPr>
          <p:grpSpPr>
            <a:xfrm>
              <a:off x="5874469" y="1181310"/>
              <a:ext cx="443061" cy="430487"/>
              <a:chOff x="5157237" y="1181368"/>
              <a:chExt cx="443061" cy="430488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5BE81A4-D803-0CEB-8A1D-16E5A6091A8A}"/>
                  </a:ext>
                </a:extLst>
              </p:cNvPr>
              <p:cNvSpPr/>
              <p:nvPr/>
            </p:nvSpPr>
            <p:spPr>
              <a:xfrm>
                <a:off x="5157237" y="1243804"/>
                <a:ext cx="443061" cy="36805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FFA4342F-FB4D-9EBA-DA45-B3A44C79B958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345" y="1181368"/>
                    <a:ext cx="18911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FFA4342F-FB4D-9EBA-DA45-B3A44C79B9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345" y="1181368"/>
                    <a:ext cx="18911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93548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EFC8F6C-89BD-5040-9643-B9EC5B86659A}"/>
                </a:ext>
              </a:extLst>
            </p:cNvPr>
            <p:cNvGrpSpPr/>
            <p:nvPr/>
          </p:nvGrpSpPr>
          <p:grpSpPr>
            <a:xfrm>
              <a:off x="5306980" y="1214679"/>
              <a:ext cx="443061" cy="397118"/>
              <a:chOff x="4616619" y="1211888"/>
              <a:chExt cx="443061" cy="397118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04E458D-5945-69C6-C3AB-BABFF7E3052D}"/>
                  </a:ext>
                </a:extLst>
              </p:cNvPr>
              <p:cNvSpPr/>
              <p:nvPr/>
            </p:nvSpPr>
            <p:spPr>
              <a:xfrm>
                <a:off x="4616619" y="1240954"/>
                <a:ext cx="443061" cy="36805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AD2865B6-2C8A-7280-D7E8-E3B50C8F1C2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3727" y="1211888"/>
                    <a:ext cx="23243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AD2865B6-2C8A-7280-D7E8-E3B50C8F1C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3727" y="1211888"/>
                    <a:ext cx="23243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5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2BFEA96-83C5-3488-D2E8-B8E2D0CD9B9F}"/>
                </a:ext>
              </a:extLst>
            </p:cNvPr>
            <p:cNvGrpSpPr/>
            <p:nvPr/>
          </p:nvGrpSpPr>
          <p:grpSpPr>
            <a:xfrm>
              <a:off x="4682937" y="1237438"/>
              <a:ext cx="443061" cy="381945"/>
              <a:chOff x="4616619" y="1227061"/>
              <a:chExt cx="443061" cy="381945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2CBD73B-3E38-6C61-3659-7913FD41B589}"/>
                  </a:ext>
                </a:extLst>
              </p:cNvPr>
              <p:cNvSpPr/>
              <p:nvPr/>
            </p:nvSpPr>
            <p:spPr>
              <a:xfrm>
                <a:off x="4616619" y="1240954"/>
                <a:ext cx="443061" cy="36805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C2A1398-5E62-E829-9EE5-F669C60C8E72}"/>
                  </a:ext>
                </a:extLst>
              </p:cNvPr>
              <p:cNvSpPr txBox="1"/>
              <p:nvPr/>
            </p:nvSpPr>
            <p:spPr>
              <a:xfrm>
                <a:off x="4655266" y="1227061"/>
                <a:ext cx="2324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endParaRPr lang="en-US" b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214D469-C0CD-E0DC-DCE9-0E32C00DB594}"/>
                </a:ext>
              </a:extLst>
            </p:cNvPr>
            <p:cNvSpPr txBox="1"/>
            <p:nvPr/>
          </p:nvSpPr>
          <p:spPr>
            <a:xfrm>
              <a:off x="5097523" y="1168512"/>
              <a:ext cx="2603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</a:t>
              </a:r>
              <a:endPara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963FC54-26AB-7F49-0BB8-121EDC3E1A07}"/>
              </a:ext>
            </a:extLst>
          </p:cNvPr>
          <p:cNvGrpSpPr/>
          <p:nvPr/>
        </p:nvGrpSpPr>
        <p:grpSpPr>
          <a:xfrm>
            <a:off x="4122434" y="2967335"/>
            <a:ext cx="1634593" cy="461665"/>
            <a:chOff x="4682937" y="1168512"/>
            <a:chExt cx="1634593" cy="461665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6241175A-E694-65AE-9451-218AD7BA017D}"/>
                </a:ext>
              </a:extLst>
            </p:cNvPr>
            <p:cNvGrpSpPr/>
            <p:nvPr/>
          </p:nvGrpSpPr>
          <p:grpSpPr>
            <a:xfrm>
              <a:off x="5874469" y="1181310"/>
              <a:ext cx="443061" cy="430487"/>
              <a:chOff x="5157237" y="1181368"/>
              <a:chExt cx="443061" cy="430488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B6FE2FB8-F6AA-A43E-130E-62EB5CF45480}"/>
                  </a:ext>
                </a:extLst>
              </p:cNvPr>
              <p:cNvSpPr/>
              <p:nvPr/>
            </p:nvSpPr>
            <p:spPr>
              <a:xfrm>
                <a:off x="5157237" y="1243804"/>
                <a:ext cx="443061" cy="36805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4BF7286-0F00-525B-E92E-BC737D488DDD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345" y="1181368"/>
                    <a:ext cx="18911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4BF7286-0F00-525B-E92E-BC737D488D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345" y="1181368"/>
                    <a:ext cx="189113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0000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754372E6-58FB-7A35-AE3D-8C76E40BD2F6}"/>
                </a:ext>
              </a:extLst>
            </p:cNvPr>
            <p:cNvGrpSpPr/>
            <p:nvPr/>
          </p:nvGrpSpPr>
          <p:grpSpPr>
            <a:xfrm>
              <a:off x="5306980" y="1214679"/>
              <a:ext cx="443061" cy="397118"/>
              <a:chOff x="4616619" y="1211888"/>
              <a:chExt cx="443061" cy="397118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D8937495-686B-16AA-0326-E9344643E05F}"/>
                  </a:ext>
                </a:extLst>
              </p:cNvPr>
              <p:cNvSpPr/>
              <p:nvPr/>
            </p:nvSpPr>
            <p:spPr>
              <a:xfrm>
                <a:off x="4616619" y="1240954"/>
                <a:ext cx="443061" cy="36805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09AA2602-E7A0-6D6D-D645-405946E651E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3727" y="1211888"/>
                    <a:ext cx="23243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09AA2602-E7A0-6D6D-D645-405946E651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3727" y="1211888"/>
                    <a:ext cx="232431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5897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44A07DA-7C16-2DFD-9CEA-228B88CF9B92}"/>
                </a:ext>
              </a:extLst>
            </p:cNvPr>
            <p:cNvGrpSpPr/>
            <p:nvPr/>
          </p:nvGrpSpPr>
          <p:grpSpPr>
            <a:xfrm>
              <a:off x="4682937" y="1237438"/>
              <a:ext cx="443061" cy="381945"/>
              <a:chOff x="4616619" y="1227061"/>
              <a:chExt cx="443061" cy="381945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AA5210D-3EB0-E27D-19AC-B8A25E8DAC40}"/>
                  </a:ext>
                </a:extLst>
              </p:cNvPr>
              <p:cNvSpPr/>
              <p:nvPr/>
            </p:nvSpPr>
            <p:spPr>
              <a:xfrm>
                <a:off x="4616619" y="1240954"/>
                <a:ext cx="443061" cy="36805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EB8443D-F737-3867-C9A1-1BBC319351E4}"/>
                  </a:ext>
                </a:extLst>
              </p:cNvPr>
              <p:cNvSpPr txBox="1"/>
              <p:nvPr/>
            </p:nvSpPr>
            <p:spPr>
              <a:xfrm>
                <a:off x="4655266" y="1227061"/>
                <a:ext cx="2324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76E1367-F44F-8EB5-9B97-C287C361EAB4}"/>
                </a:ext>
              </a:extLst>
            </p:cNvPr>
            <p:cNvSpPr txBox="1"/>
            <p:nvPr/>
          </p:nvSpPr>
          <p:spPr>
            <a:xfrm>
              <a:off x="5097523" y="1168512"/>
              <a:ext cx="2603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</a:t>
              </a:r>
              <a:endParaRPr 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19CCD2AE-0252-F008-413F-8C10AD782031}"/>
              </a:ext>
            </a:extLst>
          </p:cNvPr>
          <p:cNvCxnSpPr>
            <a:cxnSpLocks/>
            <a:endCxn id="79" idx="1"/>
          </p:cNvCxnSpPr>
          <p:nvPr/>
        </p:nvCxnSpPr>
        <p:spPr>
          <a:xfrm rot="16200000" flipH="1">
            <a:off x="3194510" y="2306256"/>
            <a:ext cx="980286" cy="87556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AB3F4AA3-6C05-ABCF-C110-3AFB69DF33FD}"/>
              </a:ext>
            </a:extLst>
          </p:cNvPr>
          <p:cNvSpPr txBox="1"/>
          <p:nvPr/>
        </p:nvSpPr>
        <p:spPr>
          <a:xfrm>
            <a:off x="3325142" y="2890429"/>
            <a:ext cx="495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&amp;&amp;</a:t>
            </a:r>
          </a:p>
        </p:txBody>
      </p:sp>
      <p:sp>
        <p:nvSpPr>
          <p:cNvPr id="94" name="Right Brace 93">
            <a:extLst>
              <a:ext uri="{FF2B5EF4-FFF2-40B4-BE49-F238E27FC236}">
                <a16:creationId xmlns:a16="http://schemas.microsoft.com/office/drawing/2014/main" id="{A4C02EC6-35C1-89D5-9A34-D6A790514FD1}"/>
              </a:ext>
            </a:extLst>
          </p:cNvPr>
          <p:cNvSpPr/>
          <p:nvPr/>
        </p:nvSpPr>
        <p:spPr>
          <a:xfrm>
            <a:off x="6044024" y="1632243"/>
            <a:ext cx="410821" cy="1680643"/>
          </a:xfrm>
          <a:prstGeom prst="rightBrace">
            <a:avLst>
              <a:gd name="adj1" fmla="val 8333"/>
              <a:gd name="adj2" fmla="val 169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C1A35D7-0F9A-02EF-D49B-B713C37BB7E1}"/>
              </a:ext>
            </a:extLst>
          </p:cNvPr>
          <p:cNvSpPr txBox="1"/>
          <p:nvPr/>
        </p:nvSpPr>
        <p:spPr>
          <a:xfrm>
            <a:off x="6580226" y="1742855"/>
            <a:ext cx="38766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/>
              <a:t>Υπολογίζουμε την ευκλείδια απόσταση κάθε δακτύλου από το βασικό δάκτυλο, και κρατάμε το δάκτυλο με την </a:t>
            </a:r>
            <a:r>
              <a:rPr lang="el-GR" b="1"/>
              <a:t>ελάχιστη</a:t>
            </a:r>
            <a:r>
              <a:rPr lang="el-GR"/>
              <a:t>.</a:t>
            </a:r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F150FD2-630A-3D9D-A161-9E9BD6457B73}"/>
              </a:ext>
            </a:extLst>
          </p:cNvPr>
          <p:cNvSpPr txBox="1"/>
          <p:nvPr/>
        </p:nvSpPr>
        <p:spPr>
          <a:xfrm>
            <a:off x="1721136" y="1302879"/>
            <a:ext cx="11539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(frame)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702FD2D-7418-66AF-2E86-BD5DEF95559E}"/>
              </a:ext>
            </a:extLst>
          </p:cNvPr>
          <p:cNvSpPr txBox="1"/>
          <p:nvPr/>
        </p:nvSpPr>
        <p:spPr>
          <a:xfrm>
            <a:off x="3406845" y="105735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b="1"/>
              <a:t>Εξομαλυσμένες</a:t>
            </a:r>
            <a:r>
              <a:rPr lang="el-GR" sz="1600"/>
              <a:t> θέσεις κάθε δακτύλου</a:t>
            </a:r>
            <a:endParaRPr lang="en-US" sz="16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7A06C8-5831-62AF-8CFD-9D3498E9244C}"/>
              </a:ext>
            </a:extLst>
          </p:cNvPr>
          <p:cNvSpPr txBox="1"/>
          <p:nvPr/>
        </p:nvSpPr>
        <p:spPr>
          <a:xfrm>
            <a:off x="1446892" y="4228956"/>
            <a:ext cx="43101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•</a:t>
            </a:r>
            <a:r>
              <a:rPr lang="el-GR" b="1"/>
              <a:t> Ελάχιστη απόσταση &lt; κατώφλι:</a:t>
            </a:r>
          </a:p>
          <a:p>
            <a:r>
              <a:rPr lang="el-GR"/>
              <a:t>Στέλνουμε στην μηχανή καταστάσεων την αντίστοιχη κατάσταση χειρονομίας (</a:t>
            </a:r>
            <a:r>
              <a:rPr lang="en-US"/>
              <a:t>LEFT,RIGHT,MIDDLE)</a:t>
            </a:r>
            <a:r>
              <a:rPr lang="el-GR"/>
              <a:t> του δακτύλου με την ελάχιστη ευκλείδια απόσταση</a:t>
            </a:r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0A8F201-5720-D28E-8427-D1131B0F67C7}"/>
              </a:ext>
            </a:extLst>
          </p:cNvPr>
          <p:cNvSpPr txBox="1"/>
          <p:nvPr/>
        </p:nvSpPr>
        <p:spPr>
          <a:xfrm>
            <a:off x="6173910" y="4228956"/>
            <a:ext cx="41435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•</a:t>
            </a:r>
            <a:r>
              <a:rPr lang="el-GR" b="1"/>
              <a:t> Ελάχιστη απόσταση </a:t>
            </a:r>
            <a:r>
              <a:rPr lang="en-US" b="1"/>
              <a:t>&gt;</a:t>
            </a:r>
            <a:r>
              <a:rPr lang="el-GR" b="1"/>
              <a:t> κατώφλι:</a:t>
            </a:r>
          </a:p>
          <a:p>
            <a:r>
              <a:rPr lang="el-GR"/>
              <a:t>Στέλνουμε στην μηχανή καταστάσεων την άδεια κατάσταση χειρονομίας (</a:t>
            </a:r>
            <a:r>
              <a:rPr lang="en-US"/>
              <a:t>NONE)</a:t>
            </a:r>
            <a:r>
              <a:rPr lang="el-GR"/>
              <a:t>.</a:t>
            </a:r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3DDF49B-F741-75A9-C42A-EAA1E0498EEA}"/>
              </a:ext>
            </a:extLst>
          </p:cNvPr>
          <p:cNvSpPr txBox="1"/>
          <p:nvPr/>
        </p:nvSpPr>
        <p:spPr>
          <a:xfrm>
            <a:off x="750570" y="5800650"/>
            <a:ext cx="6271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/>
              <a:t>Η μηχανή καταστάσεων:</a:t>
            </a:r>
          </a:p>
          <a:p>
            <a:r>
              <a:rPr lang="en-US"/>
              <a:t>• </a:t>
            </a:r>
            <a:r>
              <a:rPr lang="el-GR"/>
              <a:t>διατηρεί την αμέσως προηγούμενη κατάσταση χειρονομίας</a:t>
            </a:r>
          </a:p>
          <a:p>
            <a:r>
              <a:rPr lang="en-US"/>
              <a:t>• </a:t>
            </a:r>
            <a:r>
              <a:rPr lang="el-GR"/>
              <a:t>αποθηκεύει την καινούρια που της στείλαμε, </a:t>
            </a:r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05391AE-2A90-4AB9-CAF4-009394EA6AD0}"/>
              </a:ext>
            </a:extLst>
          </p:cNvPr>
          <p:cNvSpPr txBox="1"/>
          <p:nvPr/>
        </p:nvSpPr>
        <p:spPr>
          <a:xfrm>
            <a:off x="2043174" y="3727724"/>
            <a:ext cx="7848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/>
              <a:t>Ύστερα, με βάση ένα παραμετροποιήσιμο κατώφλι απόστασης, αν έχουμε:</a:t>
            </a:r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E746E5A-C414-0AAE-5717-18C937A0571C}"/>
              </a:ext>
            </a:extLst>
          </p:cNvPr>
          <p:cNvSpPr txBox="1"/>
          <p:nvPr/>
        </p:nvSpPr>
        <p:spPr>
          <a:xfrm>
            <a:off x="7425690" y="6033183"/>
            <a:ext cx="3688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/>
              <a:t>ώστε να αρχίσει να αποφασίζει για το πότε και αν θα γίνει κλικ</a:t>
            </a:r>
            <a:endParaRPr lang="en-US"/>
          </a:p>
        </p:txBody>
      </p:sp>
      <p:sp>
        <p:nvSpPr>
          <p:cNvPr id="115" name="Right Brace 114">
            <a:extLst>
              <a:ext uri="{FF2B5EF4-FFF2-40B4-BE49-F238E27FC236}">
                <a16:creationId xmlns:a16="http://schemas.microsoft.com/office/drawing/2014/main" id="{91FD7BBA-0D69-7591-0F7E-2996E559DF7A}"/>
              </a:ext>
            </a:extLst>
          </p:cNvPr>
          <p:cNvSpPr/>
          <p:nvPr/>
        </p:nvSpPr>
        <p:spPr>
          <a:xfrm>
            <a:off x="7014869" y="5935567"/>
            <a:ext cx="410821" cy="789011"/>
          </a:xfrm>
          <a:prstGeom prst="rightBrace">
            <a:avLst>
              <a:gd name="adj1" fmla="val 8333"/>
              <a:gd name="adj2" fmla="val 50966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364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B36DB-F456-A4C7-1630-4F998BF1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3C4716-C88E-05DB-20D0-1DD6E9166AD0}"/>
              </a:ext>
            </a:extLst>
          </p:cNvPr>
          <p:cNvGrpSpPr/>
          <p:nvPr/>
        </p:nvGrpSpPr>
        <p:grpSpPr>
          <a:xfrm>
            <a:off x="678180" y="243841"/>
            <a:ext cx="10835640" cy="716279"/>
            <a:chOff x="678180" y="243841"/>
            <a:chExt cx="10835640" cy="71627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411F4D4-078A-6C38-6E3E-C0A6B8FBFB1A}"/>
                </a:ext>
              </a:extLst>
            </p:cNvPr>
            <p:cNvSpPr/>
            <p:nvPr/>
          </p:nvSpPr>
          <p:spPr>
            <a:xfrm>
              <a:off x="678180" y="243841"/>
              <a:ext cx="2210910" cy="694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7659B2-DD79-28CA-0CD4-C025F4E35383}"/>
                </a:ext>
              </a:extLst>
            </p:cNvPr>
            <p:cNvSpPr/>
            <p:nvPr/>
          </p:nvSpPr>
          <p:spPr>
            <a:xfrm>
              <a:off x="678180" y="243841"/>
              <a:ext cx="10682722" cy="716279"/>
            </a:xfrm>
            <a:prstGeom prst="rect">
              <a:avLst/>
            </a:prstGeom>
            <a:gradFill>
              <a:gsLst>
                <a:gs pos="0">
                  <a:srgbClr val="908A82">
                    <a:alpha val="85000"/>
                  </a:srgbClr>
                </a:gs>
                <a:gs pos="100000">
                  <a:srgbClr val="212B26">
                    <a:alpha val="0"/>
                  </a:srgbClr>
                </a:gs>
              </a:gsLst>
              <a:lin ang="78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CC7D81-DA43-5F7D-5AFA-65540A202F82}"/>
                </a:ext>
              </a:extLst>
            </p:cNvPr>
            <p:cNvSpPr txBox="1"/>
            <p:nvPr/>
          </p:nvSpPr>
          <p:spPr>
            <a:xfrm>
              <a:off x="822960" y="314001"/>
              <a:ext cx="1069086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3000"/>
                <a:t>Διαχείριση των gesture states από την μηχανή καταστάσεων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DB0238E-2E08-4B21-21AE-5F3BAC704CCF}"/>
              </a:ext>
            </a:extLst>
          </p:cNvPr>
          <p:cNvSpPr txBox="1"/>
          <p:nvPr/>
        </p:nvSpPr>
        <p:spPr>
          <a:xfrm>
            <a:off x="4244152" y="1035805"/>
            <a:ext cx="33377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/>
              <a:t>Δύο βασικές περιπτώσεις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91100EF-8427-6F74-1910-FA0CFBCCA4F7}"/>
              </a:ext>
            </a:extLst>
          </p:cNvPr>
          <p:cNvGrpSpPr/>
          <p:nvPr/>
        </p:nvGrpSpPr>
        <p:grpSpPr>
          <a:xfrm>
            <a:off x="945077" y="1440697"/>
            <a:ext cx="2498651" cy="2262305"/>
            <a:chOff x="1272541" y="1880412"/>
            <a:chExt cx="2498651" cy="226230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EDF6BBA-3E39-7ECB-5AC3-489726325489}"/>
                </a:ext>
              </a:extLst>
            </p:cNvPr>
            <p:cNvGrpSpPr/>
            <p:nvPr/>
          </p:nvGrpSpPr>
          <p:grpSpPr>
            <a:xfrm>
              <a:off x="1303122" y="1880412"/>
              <a:ext cx="2468070" cy="969247"/>
              <a:chOff x="965995" y="2143325"/>
              <a:chExt cx="3932849" cy="1512827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C3F7F93B-2D99-A68A-12F3-DA312F2F67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78538" y="2143325"/>
                <a:ext cx="1789955" cy="1194795"/>
              </a:xfrm>
              <a:prstGeom prst="rect">
                <a:avLst/>
              </a:prstGeom>
              <a:effectLst/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4548A48D-8ABC-2181-34BA-E025B9AF4778}"/>
                  </a:ext>
                </a:extLst>
              </p:cNvPr>
              <p:cNvGrpSpPr/>
              <p:nvPr/>
            </p:nvGrpSpPr>
            <p:grpSpPr>
              <a:xfrm>
                <a:off x="965995" y="2656119"/>
                <a:ext cx="1631472" cy="663943"/>
                <a:chOff x="8934050" y="4210839"/>
                <a:chExt cx="1631472" cy="663943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1599CB14-C2AA-E815-BD17-E810917B3C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t="44430" r="8854"/>
                <a:stretch>
                  <a:fillRect/>
                </a:stretch>
              </p:blipFill>
              <p:spPr>
                <a:xfrm>
                  <a:off x="8934050" y="4210839"/>
                  <a:ext cx="1631472" cy="663943"/>
                </a:xfrm>
                <a:prstGeom prst="rect">
                  <a:avLst/>
                </a:prstGeom>
              </p:spPr>
            </p:pic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B9E9E1F-ACF8-D31D-5414-3CC9F1D2F149}"/>
                    </a:ext>
                  </a:extLst>
                </p:cNvPr>
                <p:cNvSpPr/>
                <p:nvPr/>
              </p:nvSpPr>
              <p:spPr>
                <a:xfrm rot="3292441">
                  <a:off x="9373119" y="4104083"/>
                  <a:ext cx="164279" cy="4064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10C489E2-36B8-469B-FCD4-D896DFB93DE6}"/>
                    </a:ext>
                  </a:extLst>
                </p:cNvPr>
                <p:cNvSpPr/>
                <p:nvPr/>
              </p:nvSpPr>
              <p:spPr>
                <a:xfrm rot="7692699">
                  <a:off x="9377881" y="4623688"/>
                  <a:ext cx="125357" cy="3459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CDE3CF1-613F-B574-A846-1FFD061714FB}"/>
                  </a:ext>
                </a:extLst>
              </p:cNvPr>
              <p:cNvSpPr txBox="1"/>
              <p:nvPr/>
            </p:nvSpPr>
            <p:spPr>
              <a:xfrm>
                <a:off x="4191227" y="2743419"/>
                <a:ext cx="707617" cy="912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/>
                  <a:t>✓</a:t>
                </a: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1895C4A-C748-6C44-4477-8ABCD683F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025" t="9586" r="25067"/>
            <a:stretch>
              <a:fillRect/>
            </a:stretch>
          </p:blipFill>
          <p:spPr>
            <a:xfrm>
              <a:off x="2623886" y="3126373"/>
              <a:ext cx="719087" cy="965177"/>
            </a:xfrm>
            <a:prstGeom prst="rect">
              <a:avLst/>
            </a:prstGeom>
            <a:effectLst>
              <a:softEdge rad="31750"/>
            </a:effec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13CA07F-D998-A05E-10FF-A7524051D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2541" y="3075207"/>
              <a:ext cx="1075938" cy="1067510"/>
            </a:xfrm>
            <a:prstGeom prst="rect">
              <a:avLst/>
            </a:prstGeom>
            <a:solidFill>
              <a:schemeClr val="bg1"/>
            </a:solidFill>
            <a:effectLst>
              <a:innerShdw blurRad="546100">
                <a:prstClr val="black"/>
              </a:innerShdw>
              <a:softEdge rad="63500"/>
            </a:effec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8986844-E048-AB4D-494A-213EA9564627}"/>
                    </a:ext>
                  </a:extLst>
                </p:cNvPr>
                <p:cNvSpPr txBox="1"/>
                <p:nvPr/>
              </p:nvSpPr>
              <p:spPr>
                <a:xfrm>
                  <a:off x="1582381" y="2591582"/>
                  <a:ext cx="48892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00" b="1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8986844-E048-AB4D-494A-213EA95646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2381" y="2591582"/>
                  <a:ext cx="488928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EDAC60F-361C-80BE-FB15-1F53ECA99722}"/>
                    </a:ext>
                  </a:extLst>
                </p:cNvPr>
                <p:cNvSpPr txBox="1"/>
                <p:nvPr/>
              </p:nvSpPr>
              <p:spPr>
                <a:xfrm>
                  <a:off x="2738966" y="2584281"/>
                  <a:ext cx="48892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l-GR" sz="24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EDAC60F-361C-80BE-FB15-1F53ECA997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8966" y="2584281"/>
                  <a:ext cx="488928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0105E3F-5988-4063-03C5-AEDC0D992673}"/>
              </a:ext>
            </a:extLst>
          </p:cNvPr>
          <p:cNvGrpSpPr/>
          <p:nvPr/>
        </p:nvGrpSpPr>
        <p:grpSpPr>
          <a:xfrm>
            <a:off x="7269468" y="1440697"/>
            <a:ext cx="3544927" cy="2255004"/>
            <a:chOff x="1512434" y="1880412"/>
            <a:chExt cx="3544927" cy="225500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F6850BE-00BF-F13C-943C-8E9E6C9D23A9}"/>
                </a:ext>
              </a:extLst>
            </p:cNvPr>
            <p:cNvGrpSpPr/>
            <p:nvPr/>
          </p:nvGrpSpPr>
          <p:grpSpPr>
            <a:xfrm>
              <a:off x="1512434" y="1880412"/>
              <a:ext cx="3544927" cy="839624"/>
              <a:chOff x="1299530" y="2143321"/>
              <a:chExt cx="5648809" cy="1310506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D38B7A16-78EE-A942-2B31-7E97D49EFE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78538" y="2143321"/>
                <a:ext cx="1789956" cy="1194794"/>
              </a:xfrm>
              <a:prstGeom prst="rect">
                <a:avLst/>
              </a:prstGeom>
              <a:effectLst/>
            </p:spPr>
          </p:pic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B3B2975-98CF-FD3C-1EC9-DEBB72DF754D}"/>
                  </a:ext>
                </a:extLst>
              </p:cNvPr>
              <p:cNvGrpSpPr/>
              <p:nvPr/>
            </p:nvGrpSpPr>
            <p:grpSpPr>
              <a:xfrm>
                <a:off x="1299530" y="2708449"/>
                <a:ext cx="4800436" cy="663942"/>
                <a:chOff x="9267585" y="4263169"/>
                <a:chExt cx="4800436" cy="663942"/>
              </a:xfrm>
            </p:grpSpPr>
            <p:pic>
              <p:nvPicPr>
                <p:cNvPr id="47" name="Picture 46">
                  <a:extLst>
                    <a:ext uri="{FF2B5EF4-FFF2-40B4-BE49-F238E27FC236}">
                      <a16:creationId xmlns:a16="http://schemas.microsoft.com/office/drawing/2014/main" id="{ED0FBA9F-79D2-10FD-6E23-BFE28AED35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t="44430" r="8854"/>
                <a:stretch>
                  <a:fillRect/>
                </a:stretch>
              </p:blipFill>
              <p:spPr>
                <a:xfrm>
                  <a:off x="12436549" y="4263169"/>
                  <a:ext cx="1631472" cy="663942"/>
                </a:xfrm>
                <a:prstGeom prst="rect">
                  <a:avLst/>
                </a:prstGeom>
              </p:spPr>
            </p:pic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FC44C3F3-BE01-94ED-3BDD-D50F2EE31D0E}"/>
                    </a:ext>
                  </a:extLst>
                </p:cNvPr>
                <p:cNvSpPr/>
                <p:nvPr/>
              </p:nvSpPr>
              <p:spPr>
                <a:xfrm rot="3292441">
                  <a:off x="12875619" y="4156421"/>
                  <a:ext cx="164278" cy="40640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E57CFAC2-3D80-03A0-06B6-20C6BBD3C88C}"/>
                    </a:ext>
                  </a:extLst>
                </p:cNvPr>
                <p:cNvSpPr/>
                <p:nvPr/>
              </p:nvSpPr>
              <p:spPr>
                <a:xfrm rot="7692699">
                  <a:off x="9377881" y="4623688"/>
                  <a:ext cx="125357" cy="3459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B4A597-A51C-3B82-C4B7-69F6F039928E}"/>
                  </a:ext>
                </a:extLst>
              </p:cNvPr>
              <p:cNvSpPr txBox="1"/>
              <p:nvPr/>
            </p:nvSpPr>
            <p:spPr>
              <a:xfrm>
                <a:off x="6099966" y="2541096"/>
                <a:ext cx="848373" cy="912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/>
                  <a:t>✓</a:t>
                </a:r>
              </a:p>
            </p:txBody>
          </p:sp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16677B3D-F789-3DF0-E602-4138383F8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025" t="9586" r="25067"/>
            <a:stretch>
              <a:fillRect/>
            </a:stretch>
          </p:blipFill>
          <p:spPr>
            <a:xfrm>
              <a:off x="2623886" y="3126373"/>
              <a:ext cx="719087" cy="965177"/>
            </a:xfrm>
            <a:prstGeom prst="rect">
              <a:avLst/>
            </a:prstGeom>
            <a:effectLst>
              <a:softEdge rad="3175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753261C-368F-142C-FAE6-A8F2E354E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05196" y="3067906"/>
              <a:ext cx="1075938" cy="1067510"/>
            </a:xfrm>
            <a:prstGeom prst="rect">
              <a:avLst/>
            </a:prstGeom>
            <a:solidFill>
              <a:schemeClr val="bg1"/>
            </a:solidFill>
            <a:effectLst>
              <a:innerShdw blurRad="546100">
                <a:prstClr val="black"/>
              </a:innerShdw>
              <a:softEdge rad="63500"/>
            </a:effec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3043F6F-936F-9A09-1C9E-A6286CE2904F}"/>
                    </a:ext>
                  </a:extLst>
                </p:cNvPr>
                <p:cNvSpPr txBox="1"/>
                <p:nvPr/>
              </p:nvSpPr>
              <p:spPr>
                <a:xfrm>
                  <a:off x="3815036" y="2584281"/>
                  <a:ext cx="48892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l-GR" sz="2400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00" b="1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3043F6F-936F-9A09-1C9E-A6286CE290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5036" y="2584281"/>
                  <a:ext cx="488928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7DE3621-8D74-CB44-341C-B59D816928F3}"/>
                    </a:ext>
                  </a:extLst>
                </p:cNvPr>
                <p:cNvSpPr txBox="1"/>
                <p:nvPr/>
              </p:nvSpPr>
              <p:spPr>
                <a:xfrm>
                  <a:off x="2738966" y="2584281"/>
                  <a:ext cx="48892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l-GR" sz="24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7DE3621-8D74-CB44-341C-B59D816928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8966" y="2584281"/>
                  <a:ext cx="488928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303271BE-043B-FC7F-EB5E-4A7CB421324C}"/>
              </a:ext>
            </a:extLst>
          </p:cNvPr>
          <p:cNvCxnSpPr>
            <a:cxnSpLocks/>
            <a:stCxn id="25" idx="2"/>
            <a:endCxn id="62" idx="1"/>
          </p:cNvCxnSpPr>
          <p:nvPr/>
        </p:nvCxnSpPr>
        <p:spPr>
          <a:xfrm rot="5400000">
            <a:off x="617674" y="2769039"/>
            <a:ext cx="2963116" cy="2244927"/>
          </a:xfrm>
          <a:prstGeom prst="bentConnector4">
            <a:avLst>
              <a:gd name="adj1" fmla="val 53478"/>
              <a:gd name="adj2" fmla="val 110183"/>
            </a:avLst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3B034CE-E64A-D64D-7305-2101D72655AF}"/>
                  </a:ext>
                </a:extLst>
              </p:cNvPr>
              <p:cNvSpPr txBox="1"/>
              <p:nvPr/>
            </p:nvSpPr>
            <p:spPr>
              <a:xfrm>
                <a:off x="976768" y="4024645"/>
                <a:ext cx="3511608" cy="2696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400" b="1"/>
                  <a:t>Αν τωρινή κατάσταση </a:t>
                </a:r>
                <a14:m>
                  <m:oMath xmlns:m="http://schemas.openxmlformats.org/officeDocument/2006/math">
                    <m:r>
                      <a:rPr lang="el-G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1400" b="1"/>
                  <a:t> </a:t>
                </a:r>
                <a:r>
                  <a:rPr lang="el-GR" sz="1400" b="1"/>
                  <a:t>προηγούμενης</a:t>
                </a:r>
              </a:p>
              <a:p>
                <a:r>
                  <a:rPr lang="en-US" sz="1400" b="1"/>
                  <a:t>• </a:t>
                </a:r>
                <a:r>
                  <a:rPr lang="el-GR" sz="1400"/>
                  <a:t>Καταγραφή ώρας έναρξης σύνδεσης με αντίχειρα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𝑛𝑜𝑤</m:t>
                        </m:r>
                      </m:sub>
                    </m:sSub>
                  </m:oMath>
                </a14:m>
                <a:r>
                  <a:rPr lang="el-GR" sz="1400"/>
                  <a:t>)</a:t>
                </a:r>
              </a:p>
              <a:p>
                <a:r>
                  <a:rPr lang="el-GR" sz="1400" b="1"/>
                  <a:t>Αν τωρινή κατάσταση = προηγούμενη</a:t>
                </a:r>
                <a:r>
                  <a:rPr lang="en-US" sz="1400" b="1"/>
                  <a:t> (</a:t>
                </a:r>
                <a:r>
                  <a:rPr lang="el-GR" sz="1400" b="1"/>
                  <a:t>σε επόμενο καρέ) </a:t>
                </a:r>
                <a:endParaRPr lang="el-GR" sz="1400"/>
              </a:p>
              <a:p>
                <a:r>
                  <a:rPr lang="en-US" sz="1400"/>
                  <a:t>• </a:t>
                </a:r>
                <a:r>
                  <a:rPr lang="el-GR" sz="1400"/>
                  <a:t>Μετράμε διάρκεια σύνδεσης</a:t>
                </a:r>
                <a:r>
                  <a:rPr lang="en-US" sz="1400"/>
                  <a:t> </a:t>
                </a:r>
                <a:r>
                  <a:rPr lang="el-GR" sz="1400"/>
                  <a:t>αντίχειρα: </a:t>
                </a:r>
                <a:endParaRPr lang="el-GR" sz="1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𝑛𝑜𝑤</m:t>
                          </m:r>
                        </m:sub>
                      </m:sSub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l-GR" sz="1400" b="0" i="1" dirty="0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l-GR" sz="1400" i="1" dirty="0" smtClean="0">
                              <a:latin typeface="Cambria Math" panose="02040503050406030204" pitchFamily="18" charset="0"/>
                            </a:rPr>
                            <m:t>𝜈𝛼𝜌𝜉𝜂</m:t>
                          </m:r>
                        </m:sub>
                      </m:sSub>
                    </m:oMath>
                  </m:oMathPara>
                </a14:m>
                <a:endParaRPr lang="el-GR" sz="1400"/>
              </a:p>
              <a:p>
                <a:r>
                  <a:rPr lang="en-US" sz="1400"/>
                  <a:t>•</a:t>
                </a:r>
                <a:r>
                  <a:rPr lang="el-GR" sz="1400" b="1"/>
                  <a:t> </a:t>
                </a:r>
                <a:r>
                  <a:rPr lang="el-GR" sz="1400"/>
                  <a:t>Αν διάρκεια &gt; κατώφλι χρόνου παρατεταμένου πατήματος: </a:t>
                </a:r>
              </a:p>
              <a:p>
                <a:r>
                  <a:rPr lang="el-GR" sz="1400" b="1"/>
                  <a:t>Ενεργοποιούμε παρατεταμένο πάτημα για την ενέργεια του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4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l-GR" sz="1400"/>
              </a:p>
              <a:p>
                <a:endParaRPr lang="el-GR" sz="140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3B034CE-E64A-D64D-7305-2101D7265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68" y="4024645"/>
                <a:ext cx="3511608" cy="2696829"/>
              </a:xfrm>
              <a:prstGeom prst="rect">
                <a:avLst/>
              </a:prstGeom>
              <a:blipFill>
                <a:blip r:embed="rId9"/>
                <a:stretch>
                  <a:fillRect l="-521" t="-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69814F25-AB87-58DE-C0B0-2268C4B2F5AA}"/>
              </a:ext>
            </a:extLst>
          </p:cNvPr>
          <p:cNvSpPr txBox="1"/>
          <p:nvPr/>
        </p:nvSpPr>
        <p:spPr>
          <a:xfrm>
            <a:off x="1207236" y="3624600"/>
            <a:ext cx="8431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NONE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BB4E03-A0B9-CB4E-72C8-85F85AC921B6}"/>
              </a:ext>
            </a:extLst>
          </p:cNvPr>
          <p:cNvSpPr txBox="1"/>
          <p:nvPr/>
        </p:nvSpPr>
        <p:spPr>
          <a:xfrm>
            <a:off x="2451841" y="3616155"/>
            <a:ext cx="644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LEFT</a:t>
            </a:r>
            <a:endParaRPr lang="en-US" sz="140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2E05BF7-2810-DFEE-5ED1-89DD37A12AA8}"/>
              </a:ext>
            </a:extLst>
          </p:cNvPr>
          <p:cNvGrpSpPr/>
          <p:nvPr/>
        </p:nvGrpSpPr>
        <p:grpSpPr>
          <a:xfrm>
            <a:off x="945077" y="1440697"/>
            <a:ext cx="2151544" cy="769678"/>
            <a:chOff x="1272541" y="1880412"/>
            <a:chExt cx="2151544" cy="769678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7D2FCA2-0694-072E-7476-D99DA62C7D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2541" y="1880412"/>
              <a:ext cx="0" cy="7654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11730D7C-0874-0C8E-B0F0-CC65D0A96DC8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1" y="2650090"/>
              <a:ext cx="215154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BBA72E6-D0D3-A2F2-8689-2BB95CF4D2E4}"/>
              </a:ext>
            </a:extLst>
          </p:cNvPr>
          <p:cNvGrpSpPr/>
          <p:nvPr/>
        </p:nvGrpSpPr>
        <p:grpSpPr>
          <a:xfrm>
            <a:off x="8075709" y="1405870"/>
            <a:ext cx="2151544" cy="769678"/>
            <a:chOff x="1272541" y="1880412"/>
            <a:chExt cx="2151544" cy="769678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ED25B23B-AC7E-9516-84B9-62A45E8D93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2541" y="1880412"/>
              <a:ext cx="0" cy="7654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EF95B205-FF9F-9175-C60E-1D913AB158D2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1" y="2650090"/>
              <a:ext cx="215154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9A3C8CD2-F939-01EE-323A-292C20845DD9}"/>
              </a:ext>
            </a:extLst>
          </p:cNvPr>
          <p:cNvCxnSpPr>
            <a:cxnSpLocks/>
            <a:stCxn id="46" idx="3"/>
            <a:endCxn id="114" idx="3"/>
          </p:cNvCxnSpPr>
          <p:nvPr/>
        </p:nvCxnSpPr>
        <p:spPr>
          <a:xfrm>
            <a:off x="10814395" y="1987934"/>
            <a:ext cx="513479" cy="3185715"/>
          </a:xfrm>
          <a:prstGeom prst="bentConnector3">
            <a:avLst>
              <a:gd name="adj1" fmla="val 144520"/>
            </a:avLst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B7C3A43-CBA1-F7A4-1DF5-D3D32381A113}"/>
                  </a:ext>
                </a:extLst>
              </p:cNvPr>
              <p:cNvSpPr txBox="1"/>
              <p:nvPr/>
            </p:nvSpPr>
            <p:spPr>
              <a:xfrm>
                <a:off x="7581900" y="3834821"/>
                <a:ext cx="3745974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400" b="1"/>
                  <a:t>Καταγραφή &amp; Υπολογισμός:</a:t>
                </a:r>
              </a:p>
              <a:p>
                <a:r>
                  <a:rPr lang="en-US" sz="1400" b="1"/>
                  <a:t>• </a:t>
                </a:r>
                <a:r>
                  <a:rPr lang="el-GR" sz="1400"/>
                  <a:t>Χρόνου αποσύνδεσης</a:t>
                </a:r>
              </a:p>
              <a:p>
                <a:r>
                  <a:rPr lang="en-US" sz="1400" b="1"/>
                  <a:t>• </a:t>
                </a:r>
                <a:r>
                  <a:rPr lang="el-GR" sz="1400"/>
                  <a:t>συνολικής Διάρκειας σύνδεσης με αντίχειρα</a:t>
                </a:r>
              </a:p>
              <a:p>
                <a:r>
                  <a:rPr lang="el-GR" sz="1400" b="1"/>
                  <a:t>Αν Δ &lt; Κατώφλι στιγμιαίου πατήματος: </a:t>
                </a:r>
              </a:p>
              <a:p>
                <a:r>
                  <a:rPr lang="el-GR" sz="1400"/>
                  <a:t>Αγνοούμε το σήμα (θεωρούμε κίνηση ως εσφαλμένη θορυβώδη ενεργοποίηση)</a:t>
                </a:r>
              </a:p>
              <a:p>
                <a:r>
                  <a:rPr lang="el-GR" sz="1400" b="1"/>
                  <a:t>Αν Δ &gt; Κατώφλι στιγμιαίου πατήματος: </a:t>
                </a:r>
              </a:p>
              <a:p>
                <a:r>
                  <a:rPr lang="el-GR" sz="1400"/>
                  <a:t>Και </a:t>
                </a:r>
                <a:r>
                  <a:rPr lang="el-GR" sz="1400" b="1"/>
                  <a:t>Δ &lt; Κατώφλι παρατεταμ. πατήματος: </a:t>
                </a:r>
              </a:p>
              <a:p>
                <a:r>
                  <a:rPr lang="en-US" sz="1400" b="1"/>
                  <a:t>•</a:t>
                </a:r>
                <a:r>
                  <a:rPr lang="el-GR" sz="1400"/>
                  <a:t>Ενεργοποιούμε το στιγμιαίο κλικ για την χειρονομία του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𝑛𝑒𝑤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sz="1400"/>
              </a:p>
              <a:p>
                <a:endParaRPr lang="el-GR" sz="1400"/>
              </a:p>
              <a:p>
                <a:endParaRPr lang="el-GR" sz="140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B7C3A43-CBA1-F7A4-1DF5-D3D32381A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900" y="3834821"/>
                <a:ext cx="3745974" cy="2677656"/>
              </a:xfrm>
              <a:prstGeom prst="rect">
                <a:avLst/>
              </a:prstGeom>
              <a:blipFill>
                <a:blip r:embed="rId10"/>
                <a:stretch>
                  <a:fillRect l="-489" t="-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9FC6B2B-DE56-6A5C-1647-EAE6E7EAE979}"/>
              </a:ext>
            </a:extLst>
          </p:cNvPr>
          <p:cNvSpPr txBox="1"/>
          <p:nvPr/>
        </p:nvSpPr>
        <p:spPr>
          <a:xfrm>
            <a:off x="3593427" y="1555465"/>
            <a:ext cx="15714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/>
              <a:t>Σύνδεση </a:t>
            </a:r>
          </a:p>
          <a:p>
            <a:r>
              <a:rPr lang="el-GR" sz="2000" b="1"/>
              <a:t>Δακτύλων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BA42B7-B33D-D9C7-3ECC-E833C1B22D5F}"/>
              </a:ext>
            </a:extLst>
          </p:cNvPr>
          <p:cNvSpPr txBox="1"/>
          <p:nvPr/>
        </p:nvSpPr>
        <p:spPr>
          <a:xfrm>
            <a:off x="6258252" y="1535379"/>
            <a:ext cx="17212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l-GR" sz="2000" b="1"/>
              <a:t>Αποσύνδεση </a:t>
            </a:r>
          </a:p>
          <a:p>
            <a:pPr algn="r"/>
            <a:r>
              <a:rPr lang="el-GR" sz="2000" b="1"/>
              <a:t>δακτύλων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D0634FB-7110-C90D-B41F-50D93182A49F}"/>
              </a:ext>
            </a:extLst>
          </p:cNvPr>
          <p:cNvSpPr txBox="1"/>
          <p:nvPr/>
        </p:nvSpPr>
        <p:spPr>
          <a:xfrm>
            <a:off x="9474011" y="3624599"/>
            <a:ext cx="8431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NONE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79DA762-BD99-224F-3DAC-9ABE580D2C86}"/>
              </a:ext>
            </a:extLst>
          </p:cNvPr>
          <p:cNvSpPr txBox="1"/>
          <p:nvPr/>
        </p:nvSpPr>
        <p:spPr>
          <a:xfrm>
            <a:off x="8536339" y="3620542"/>
            <a:ext cx="644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LEFT</a:t>
            </a:r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C638B4F-C664-F438-CB94-187DD1610DB2}"/>
                  </a:ext>
                </a:extLst>
              </p:cNvPr>
              <p:cNvSpPr txBox="1"/>
              <p:nvPr/>
            </p:nvSpPr>
            <p:spPr>
              <a:xfrm>
                <a:off x="3587031" y="2243265"/>
                <a:ext cx="2142272" cy="979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400"/>
                  <a:t>Έχουμε όταν</a:t>
                </a:r>
                <a:r>
                  <a:rPr lang="en-US" sz="1400"/>
                  <a:t> </a:t>
                </a:r>
                <a:r>
                  <a:rPr lang="el-GR" sz="1400"/>
                  <a:t>η κατάσταση χειρονομίας στο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400"/>
                  <a:t>δεν είναι η άδεια (</a:t>
                </a:r>
                <a:r>
                  <a:rPr lang="en-US" sz="1400"/>
                  <a:t>NONE)</a:t>
                </a:r>
                <a:endParaRPr lang="el-GR" sz="140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C638B4F-C664-F438-CB94-187DD1610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031" y="2243265"/>
                <a:ext cx="2142272" cy="979242"/>
              </a:xfrm>
              <a:prstGeom prst="rect">
                <a:avLst/>
              </a:prstGeom>
              <a:blipFill>
                <a:blip r:embed="rId11"/>
                <a:stretch>
                  <a:fillRect l="-852" t="-1863" b="-4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A01D6B3-BDCF-EC33-AD59-D597B4A6FC19}"/>
                  </a:ext>
                </a:extLst>
              </p:cNvPr>
              <p:cNvSpPr txBox="1"/>
              <p:nvPr/>
            </p:nvSpPr>
            <p:spPr>
              <a:xfrm>
                <a:off x="5890323" y="2171358"/>
                <a:ext cx="2142272" cy="1440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l-GR" sz="1400"/>
                  <a:t>Έχουμε όταν</a:t>
                </a:r>
                <a:r>
                  <a:rPr lang="en-US" sz="1400"/>
                  <a:t> </a:t>
                </a:r>
                <a:r>
                  <a:rPr lang="el-GR" sz="1400"/>
                  <a:t>η κατάσταση χειρονομίας στο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400"/>
                  <a:t>είναι η άδεια (</a:t>
                </a:r>
                <a:r>
                  <a:rPr lang="en-US" sz="1400"/>
                  <a:t>NONE</a:t>
                </a:r>
                <a:r>
                  <a:rPr lang="el-GR" sz="1400"/>
                  <a:t>) και η παλιά κατάσταση</a:t>
                </a:r>
                <a:r>
                  <a:rPr lang="en-US" sz="1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𝑛𝑒𝑤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l-GR" sz="1400"/>
                  <a:t> είναι</a:t>
                </a:r>
                <a:r>
                  <a:rPr lang="en-US" sz="1400"/>
                  <a:t> </a:t>
                </a:r>
                <a:r>
                  <a:rPr lang="el-GR" sz="1400"/>
                  <a:t>είτε </a:t>
                </a:r>
                <a:r>
                  <a:rPr lang="en-US" sz="1400"/>
                  <a:t>L,</a:t>
                </a:r>
                <a:r>
                  <a:rPr lang="el-GR" sz="1400"/>
                  <a:t> ή </a:t>
                </a:r>
                <a:r>
                  <a:rPr lang="en-US" sz="1400"/>
                  <a:t>R,</a:t>
                </a:r>
                <a:r>
                  <a:rPr lang="el-GR" sz="1400"/>
                  <a:t> ή </a:t>
                </a:r>
                <a:r>
                  <a:rPr lang="en-US" sz="1400"/>
                  <a:t>MID</a:t>
                </a:r>
                <a:endParaRPr lang="el-GR" sz="140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A01D6B3-BDCF-EC33-AD59-D597B4A6F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323" y="2171358"/>
                <a:ext cx="2142272" cy="1440907"/>
              </a:xfrm>
              <a:prstGeom prst="rect">
                <a:avLst/>
              </a:prstGeom>
              <a:blipFill>
                <a:blip r:embed="rId12"/>
                <a:stretch>
                  <a:fillRect t="-1266" r="-568" b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TextBox 129">
            <a:extLst>
              <a:ext uri="{FF2B5EF4-FFF2-40B4-BE49-F238E27FC236}">
                <a16:creationId xmlns:a16="http://schemas.microsoft.com/office/drawing/2014/main" id="{E4F04C67-32D8-786A-0AD2-9B62136192C2}"/>
              </a:ext>
            </a:extLst>
          </p:cNvPr>
          <p:cNvSpPr txBox="1"/>
          <p:nvPr/>
        </p:nvSpPr>
        <p:spPr>
          <a:xfrm>
            <a:off x="7358033" y="6002618"/>
            <a:ext cx="4544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i="1"/>
              <a:t>Επιπλέον, αν ήταν ενεργοποιημένη η παρατεταμένη λειτουργία αφήνεται αμέσως αντί να γίνει κλικ.</a:t>
            </a:r>
          </a:p>
        </p:txBody>
      </p:sp>
    </p:spTree>
    <p:extLst>
      <p:ext uri="{BB962C8B-B14F-4D97-AF65-F5344CB8AC3E}">
        <p14:creationId xmlns:p14="http://schemas.microsoft.com/office/powerpoint/2010/main" val="2529159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D43D2-A9BA-1194-C4B6-8A084166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4592819D-2312-786A-5C43-3FE829B904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63" t="10295" r="22106"/>
          <a:stretch>
            <a:fillRect/>
          </a:stretch>
        </p:blipFill>
        <p:spPr>
          <a:xfrm>
            <a:off x="3308173" y="3522447"/>
            <a:ext cx="561861" cy="616175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  <a:effectLst/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C01F49B-4EB1-4999-0579-5FC33C445A10}"/>
              </a:ext>
            </a:extLst>
          </p:cNvPr>
          <p:cNvGrpSpPr/>
          <p:nvPr/>
        </p:nvGrpSpPr>
        <p:grpSpPr>
          <a:xfrm>
            <a:off x="678180" y="243841"/>
            <a:ext cx="10835640" cy="716279"/>
            <a:chOff x="678180" y="243841"/>
            <a:chExt cx="10835640" cy="71627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6CC8B1-FC5B-AECC-376C-FBC13B389055}"/>
                </a:ext>
              </a:extLst>
            </p:cNvPr>
            <p:cNvSpPr/>
            <p:nvPr/>
          </p:nvSpPr>
          <p:spPr>
            <a:xfrm>
              <a:off x="678180" y="243841"/>
              <a:ext cx="2210910" cy="694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E200EA-2775-C017-478A-307D34C443AA}"/>
                </a:ext>
              </a:extLst>
            </p:cNvPr>
            <p:cNvSpPr/>
            <p:nvPr/>
          </p:nvSpPr>
          <p:spPr>
            <a:xfrm>
              <a:off x="678180" y="243841"/>
              <a:ext cx="10682722" cy="716279"/>
            </a:xfrm>
            <a:prstGeom prst="rect">
              <a:avLst/>
            </a:prstGeom>
            <a:gradFill>
              <a:gsLst>
                <a:gs pos="0">
                  <a:srgbClr val="908A82">
                    <a:alpha val="85000"/>
                  </a:srgbClr>
                </a:gs>
                <a:gs pos="100000">
                  <a:srgbClr val="212B26">
                    <a:alpha val="0"/>
                  </a:srgbClr>
                </a:gs>
              </a:gsLst>
              <a:lin ang="78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1B4BC0-4366-D83A-787B-9E125C632CCE}"/>
                </a:ext>
              </a:extLst>
            </p:cNvPr>
            <p:cNvSpPr txBox="1"/>
            <p:nvPr/>
          </p:nvSpPr>
          <p:spPr>
            <a:xfrm>
              <a:off x="822960" y="314001"/>
              <a:ext cx="1069086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3000"/>
                <a:t>Βελτιστοποίση Αρχιτεκτονικής για καθημερινή χρήση</a:t>
              </a: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4FA357-9B3C-42D6-5075-54DD8A7FA9B3}"/>
              </a:ext>
            </a:extLst>
          </p:cNvPr>
          <p:cNvSpPr/>
          <p:nvPr/>
        </p:nvSpPr>
        <p:spPr>
          <a:xfrm>
            <a:off x="922019" y="1484164"/>
            <a:ext cx="3032314" cy="1091396"/>
          </a:xfrm>
          <a:prstGeom prst="roundRect">
            <a:avLst/>
          </a:prstGeom>
          <a:gradFill>
            <a:gsLst>
              <a:gs pos="0">
                <a:srgbClr val="908A82">
                  <a:alpha val="21000"/>
                </a:srgbClr>
              </a:gs>
              <a:gs pos="100000">
                <a:srgbClr val="212B26">
                  <a:alpha val="0"/>
                </a:srgbClr>
              </a:gs>
            </a:gsLst>
            <a:lin ang="7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>
                <a:solidFill>
                  <a:schemeClr val="tx1"/>
                </a:solidFill>
              </a:rPr>
              <a:t>Νήμα Κάμερας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66B4E3A-B8C4-5427-2555-2F7CA7218DE4}"/>
              </a:ext>
            </a:extLst>
          </p:cNvPr>
          <p:cNvSpPr/>
          <p:nvPr/>
        </p:nvSpPr>
        <p:spPr>
          <a:xfrm>
            <a:off x="4652233" y="1484164"/>
            <a:ext cx="3032314" cy="1091396"/>
          </a:xfrm>
          <a:prstGeom prst="roundRect">
            <a:avLst/>
          </a:prstGeom>
          <a:gradFill>
            <a:gsLst>
              <a:gs pos="0">
                <a:srgbClr val="908A82">
                  <a:alpha val="21000"/>
                </a:srgbClr>
              </a:gs>
              <a:gs pos="100000">
                <a:srgbClr val="212B26">
                  <a:alpha val="0"/>
                </a:srgbClr>
              </a:gs>
            </a:gsLst>
            <a:lin ang="7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>
                <a:solidFill>
                  <a:schemeClr val="tx1"/>
                </a:solidFill>
              </a:rPr>
              <a:t>ΤΝ &amp; Εξομάλυνση &amp; Εφαρμογή Κίνησης &amp; Χειρονομιών στο ΛΣ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D59C663-7A86-2A18-06AD-86C88EC77498}"/>
              </a:ext>
            </a:extLst>
          </p:cNvPr>
          <p:cNvSpPr/>
          <p:nvPr/>
        </p:nvSpPr>
        <p:spPr>
          <a:xfrm>
            <a:off x="8237667" y="1484164"/>
            <a:ext cx="3032314" cy="1091396"/>
          </a:xfrm>
          <a:prstGeom prst="roundRect">
            <a:avLst/>
          </a:prstGeom>
          <a:gradFill>
            <a:gsLst>
              <a:gs pos="0">
                <a:srgbClr val="908A82">
                  <a:alpha val="21000"/>
                </a:srgbClr>
              </a:gs>
              <a:gs pos="100000">
                <a:srgbClr val="212B26">
                  <a:alpha val="0"/>
                </a:srgbClr>
              </a:gs>
            </a:gsLst>
            <a:lin ang="7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>
                <a:solidFill>
                  <a:schemeClr val="tx1"/>
                </a:solidFill>
              </a:rPr>
              <a:t>Νήμα Γραφικού Περιβάλλοντος (</a:t>
            </a:r>
            <a:r>
              <a:rPr lang="en-US">
                <a:solidFill>
                  <a:schemeClr val="tx1"/>
                </a:solidFill>
              </a:rPr>
              <a:t>GUI)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676073-710C-F66C-AE6F-0469FCC44704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438176" y="2575560"/>
            <a:ext cx="838982" cy="8978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4CF6B37-A7A0-50C9-A1EA-D7C334615EA0}"/>
              </a:ext>
            </a:extLst>
          </p:cNvPr>
          <p:cNvSpPr txBox="1"/>
          <p:nvPr/>
        </p:nvSpPr>
        <p:spPr>
          <a:xfrm>
            <a:off x="68269" y="2633479"/>
            <a:ext cx="25687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>
                <a:solidFill>
                  <a:schemeClr val="tx1"/>
                </a:solidFill>
              </a:rPr>
              <a:t>Καταγράφει συνεχώς και γράφει σε μια θέση τ</a:t>
            </a:r>
            <a:r>
              <a:rPr lang="el-GR"/>
              <a:t>ο πιο πρόσφατο καρέ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D18C47-4688-39B0-5276-8FD2B6A8E7CF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826977" y="2575560"/>
            <a:ext cx="2341413" cy="8724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95C04BF-44CF-18EA-BD89-81BC541959E2}"/>
              </a:ext>
            </a:extLst>
          </p:cNvPr>
          <p:cNvGrpSpPr/>
          <p:nvPr/>
        </p:nvGrpSpPr>
        <p:grpSpPr>
          <a:xfrm>
            <a:off x="3561357" y="2733959"/>
            <a:ext cx="2301662" cy="523921"/>
            <a:chOff x="3826977" y="2633479"/>
            <a:chExt cx="2301662" cy="523921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E6F3AE75-A514-A905-ADAE-41CC6F8B3F92}"/>
                </a:ext>
              </a:extLst>
            </p:cNvPr>
            <p:cNvSpPr/>
            <p:nvPr/>
          </p:nvSpPr>
          <p:spPr>
            <a:xfrm>
              <a:off x="3899944" y="2633479"/>
              <a:ext cx="2214057" cy="523220"/>
            </a:xfrm>
            <a:prstGeom prst="roundRect">
              <a:avLst/>
            </a:prstGeom>
            <a:solidFill>
              <a:srgbClr val="ECEB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DABD3AF-70BE-566F-E53A-7F92E5A444A1}"/>
                </a:ext>
              </a:extLst>
            </p:cNvPr>
            <p:cNvSpPr txBox="1"/>
            <p:nvPr/>
          </p:nvSpPr>
          <p:spPr>
            <a:xfrm>
              <a:off x="3826977" y="2634180"/>
              <a:ext cx="230166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l-GR" sz="1400">
                  <a:solidFill>
                    <a:schemeClr val="tx1"/>
                  </a:solidFill>
                </a:rPr>
                <a:t>Διαβάζει το πιο πρόσφατο καρέ που έγραψε η κάμερα</a:t>
              </a:r>
              <a:endParaRPr lang="en-US" sz="1400">
                <a:solidFill>
                  <a:schemeClr val="tx1"/>
                </a:solidFill>
              </a:endParaRP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221C350-638B-D792-0B0F-54F6ABA2E8F3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6168390" y="2575560"/>
            <a:ext cx="3219897" cy="14894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0AAAD21-0A60-5504-856B-DD92AE1BBEDF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9388287" y="2575560"/>
            <a:ext cx="365537" cy="14894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95E6B79-AAD9-CA61-36FE-FEDCFDAFF3F5}"/>
              </a:ext>
            </a:extLst>
          </p:cNvPr>
          <p:cNvGrpSpPr/>
          <p:nvPr/>
        </p:nvGrpSpPr>
        <p:grpSpPr>
          <a:xfrm>
            <a:off x="6220185" y="2722940"/>
            <a:ext cx="2708912" cy="886474"/>
            <a:chOff x="3734823" y="4134281"/>
            <a:chExt cx="2301662" cy="954107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4C0BE878-558A-9C04-F382-8CF17A3FD473}"/>
                </a:ext>
              </a:extLst>
            </p:cNvPr>
            <p:cNvSpPr/>
            <p:nvPr/>
          </p:nvSpPr>
          <p:spPr>
            <a:xfrm>
              <a:off x="3778624" y="4134281"/>
              <a:ext cx="2214057" cy="954106"/>
            </a:xfrm>
            <a:prstGeom prst="roundRect">
              <a:avLst/>
            </a:prstGeom>
            <a:solidFill>
              <a:srgbClr val="ECEB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E9D1639-BEB7-82F1-8143-79C198BC6B7B}"/>
                </a:ext>
              </a:extLst>
            </p:cNvPr>
            <p:cNvSpPr txBox="1"/>
            <p:nvPr/>
          </p:nvSpPr>
          <p:spPr>
            <a:xfrm>
              <a:off x="3734823" y="4134281"/>
              <a:ext cx="230166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l-GR" sz="1400">
                  <a:solidFill>
                    <a:schemeClr val="tx1"/>
                  </a:solidFill>
                </a:rPr>
                <a:t>Γράφει όλα τα χαρακτηριστικά κίνησης που υπολογίζει για τον κέρσορα μέσα σε μία κατάσταση</a:t>
              </a:r>
              <a:endParaRPr lang="en-US" sz="1400">
                <a:solidFill>
                  <a:schemeClr val="tx1"/>
                </a:solidFill>
              </a:endParaRPr>
            </a:p>
          </p:txBody>
        </p:sp>
      </p:grp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308353E5-D688-87F9-F6E7-11F111DD7C3F}"/>
              </a:ext>
            </a:extLst>
          </p:cNvPr>
          <p:cNvCxnSpPr>
            <a:cxnSpLocks/>
            <a:stCxn id="18" idx="2"/>
          </p:cNvCxnSpPr>
          <p:nvPr/>
        </p:nvCxnSpPr>
        <p:spPr>
          <a:xfrm rot="16200000" flipH="1">
            <a:off x="7033637" y="1710312"/>
            <a:ext cx="1489402" cy="321989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Arrow: Curved Up 88">
            <a:extLst>
              <a:ext uri="{FF2B5EF4-FFF2-40B4-BE49-F238E27FC236}">
                <a16:creationId xmlns:a16="http://schemas.microsoft.com/office/drawing/2014/main" id="{AD25EF14-94A8-A8B1-BE92-18E799997E47}"/>
              </a:ext>
            </a:extLst>
          </p:cNvPr>
          <p:cNvSpPr/>
          <p:nvPr/>
        </p:nvSpPr>
        <p:spPr>
          <a:xfrm>
            <a:off x="1288284" y="1278462"/>
            <a:ext cx="470724" cy="431658"/>
          </a:xfrm>
          <a:prstGeom prst="curvedUpArrow">
            <a:avLst/>
          </a:prstGeom>
          <a:gradFill>
            <a:gsLst>
              <a:gs pos="0">
                <a:srgbClr val="01B0EF"/>
              </a:gs>
              <a:gs pos="62000">
                <a:srgbClr val="01B0EF"/>
              </a:gs>
              <a:gs pos="15000">
                <a:srgbClr val="FFC000"/>
              </a:gs>
            </a:gsLst>
            <a:lin ang="7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Arrow: Curved Up 89">
            <a:extLst>
              <a:ext uri="{FF2B5EF4-FFF2-40B4-BE49-F238E27FC236}">
                <a16:creationId xmlns:a16="http://schemas.microsoft.com/office/drawing/2014/main" id="{BAD5BB84-EED1-A3D2-51C9-4CAB714F7162}"/>
              </a:ext>
            </a:extLst>
          </p:cNvPr>
          <p:cNvSpPr/>
          <p:nvPr/>
        </p:nvSpPr>
        <p:spPr>
          <a:xfrm>
            <a:off x="4762321" y="1282584"/>
            <a:ext cx="470724" cy="431658"/>
          </a:xfrm>
          <a:prstGeom prst="curvedUpArrow">
            <a:avLst/>
          </a:prstGeom>
          <a:gradFill>
            <a:gsLst>
              <a:gs pos="0">
                <a:srgbClr val="01B0EF"/>
              </a:gs>
              <a:gs pos="62000">
                <a:srgbClr val="01B0EF"/>
              </a:gs>
              <a:gs pos="15000">
                <a:srgbClr val="FFC000"/>
              </a:gs>
            </a:gsLst>
            <a:lin ang="7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Arrow: Curved Up 90">
            <a:extLst>
              <a:ext uri="{FF2B5EF4-FFF2-40B4-BE49-F238E27FC236}">
                <a16:creationId xmlns:a16="http://schemas.microsoft.com/office/drawing/2014/main" id="{D1E47D2D-5EB9-9191-8E4A-0A9186269C47}"/>
              </a:ext>
            </a:extLst>
          </p:cNvPr>
          <p:cNvSpPr/>
          <p:nvPr/>
        </p:nvSpPr>
        <p:spPr>
          <a:xfrm>
            <a:off x="8202516" y="1291952"/>
            <a:ext cx="470724" cy="431658"/>
          </a:xfrm>
          <a:prstGeom prst="curvedUpArrow">
            <a:avLst/>
          </a:prstGeom>
          <a:gradFill>
            <a:gsLst>
              <a:gs pos="0">
                <a:srgbClr val="01B0EF"/>
              </a:gs>
              <a:gs pos="62000">
                <a:srgbClr val="01B0EF"/>
              </a:gs>
              <a:gs pos="15000">
                <a:srgbClr val="FFC000"/>
              </a:gs>
            </a:gsLst>
            <a:lin ang="7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59E1159-8D86-AF84-CAE3-BC4F77FF1E64}"/>
              </a:ext>
            </a:extLst>
          </p:cNvPr>
          <p:cNvGrpSpPr/>
          <p:nvPr/>
        </p:nvGrpSpPr>
        <p:grpSpPr>
          <a:xfrm>
            <a:off x="6220185" y="3756793"/>
            <a:ext cx="2304256" cy="1128236"/>
            <a:chOff x="3734823" y="4134279"/>
            <a:chExt cx="2301662" cy="1125088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9463AFB8-0693-DB8D-5D3E-B2A4A2F44995}"/>
                </a:ext>
              </a:extLst>
            </p:cNvPr>
            <p:cNvSpPr/>
            <p:nvPr/>
          </p:nvSpPr>
          <p:spPr>
            <a:xfrm>
              <a:off x="3778624" y="4134281"/>
              <a:ext cx="2214057" cy="954106"/>
            </a:xfrm>
            <a:prstGeom prst="roundRect">
              <a:avLst/>
            </a:prstGeom>
            <a:solidFill>
              <a:srgbClr val="ECEB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3A318C2-BCDC-AE75-160B-EB5428AEA37A}"/>
                </a:ext>
              </a:extLst>
            </p:cNvPr>
            <p:cNvSpPr txBox="1"/>
            <p:nvPr/>
          </p:nvSpPr>
          <p:spPr>
            <a:xfrm>
              <a:off x="3734823" y="4134279"/>
              <a:ext cx="2301662" cy="11250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l-GR" sz="1400">
                  <a:solidFill>
                    <a:schemeClr val="tx1"/>
                  </a:solidFill>
                </a:rPr>
                <a:t>Γράφει την αντίστοιχη εικόνα που του δόθηκε για να υπολογίσει την κατάσταση</a:t>
              </a:r>
              <a:endParaRPr lang="en-US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2C0F9E7-9172-78D5-5B8B-8A80CADF17EB}"/>
              </a:ext>
            </a:extLst>
          </p:cNvPr>
          <p:cNvGrpSpPr/>
          <p:nvPr/>
        </p:nvGrpSpPr>
        <p:grpSpPr>
          <a:xfrm>
            <a:off x="9020399" y="2995570"/>
            <a:ext cx="2249582" cy="561240"/>
            <a:chOff x="3734823" y="4134281"/>
            <a:chExt cx="2301662" cy="954106"/>
          </a:xfrm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DBF53BDB-A4E1-17D4-DC05-A1B5C7560B54}"/>
                </a:ext>
              </a:extLst>
            </p:cNvPr>
            <p:cNvSpPr/>
            <p:nvPr/>
          </p:nvSpPr>
          <p:spPr>
            <a:xfrm>
              <a:off x="3778624" y="4134281"/>
              <a:ext cx="2214057" cy="954106"/>
            </a:xfrm>
            <a:prstGeom prst="roundRect">
              <a:avLst/>
            </a:prstGeom>
            <a:solidFill>
              <a:srgbClr val="ECEB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D7350EF-37EC-8149-10B0-32AAEC144135}"/>
                </a:ext>
              </a:extLst>
            </p:cNvPr>
            <p:cNvSpPr txBox="1"/>
            <p:nvPr/>
          </p:nvSpPr>
          <p:spPr>
            <a:xfrm>
              <a:off x="3734823" y="4134281"/>
              <a:ext cx="2301662" cy="889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l-GR" sz="1400">
                  <a:solidFill>
                    <a:schemeClr val="tx1"/>
                  </a:solidFill>
                </a:rPr>
                <a:t>Διαβάζει εικόνα και χαρακτηριστικά κίνησης</a:t>
              </a:r>
              <a:endParaRPr lang="en-US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1F96202-CFD8-9C75-B9B6-0096EDDB3730}"/>
              </a:ext>
            </a:extLst>
          </p:cNvPr>
          <p:cNvGrpSpPr/>
          <p:nvPr/>
        </p:nvGrpSpPr>
        <p:grpSpPr>
          <a:xfrm>
            <a:off x="9437343" y="3816365"/>
            <a:ext cx="2614836" cy="1195726"/>
            <a:chOff x="3778624" y="4134280"/>
            <a:chExt cx="2214057" cy="125177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0D922ABF-C4FB-F84F-2D47-117F8FC5241C}"/>
                </a:ext>
              </a:extLst>
            </p:cNvPr>
            <p:cNvSpPr/>
            <p:nvPr/>
          </p:nvSpPr>
          <p:spPr>
            <a:xfrm>
              <a:off x="3778624" y="4134280"/>
              <a:ext cx="2214057" cy="1251776"/>
            </a:xfrm>
            <a:prstGeom prst="roundRect">
              <a:avLst/>
            </a:prstGeom>
            <a:solidFill>
              <a:srgbClr val="ECEB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81476CA-9F68-C42A-4512-3E455D544143}"/>
                </a:ext>
              </a:extLst>
            </p:cNvPr>
            <p:cNvSpPr txBox="1"/>
            <p:nvPr/>
          </p:nvSpPr>
          <p:spPr>
            <a:xfrm>
              <a:off x="3778625" y="4157298"/>
              <a:ext cx="2147525" cy="1224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l-GR" sz="1400" b="1"/>
                <a:t>Οπτική ανατροφοδότηση χρήστη:</a:t>
              </a:r>
              <a:endParaRPr lang="el-GR" sz="1400" b="1">
                <a:solidFill>
                  <a:schemeClr val="tx1"/>
                </a:solidFill>
              </a:endParaRPr>
            </a:p>
            <a:p>
              <a:pPr algn="ctr"/>
              <a:r>
                <a:rPr lang="el-GR" sz="1400">
                  <a:solidFill>
                    <a:schemeClr val="tx1"/>
                  </a:solidFill>
                </a:rPr>
                <a:t>Ζωγραφίζονται ακμές χεριού και κόμβοι άκρων (εξομαλυσμένοι και μη)</a:t>
              </a:r>
              <a:endParaRPr lang="en-US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C6FAC66-9004-0E15-2614-5ABAE805DEB3}"/>
              </a:ext>
            </a:extLst>
          </p:cNvPr>
          <p:cNvGrpSpPr/>
          <p:nvPr/>
        </p:nvGrpSpPr>
        <p:grpSpPr>
          <a:xfrm>
            <a:off x="9334412" y="5077892"/>
            <a:ext cx="2820697" cy="614869"/>
            <a:chOff x="3734824" y="4134281"/>
            <a:chExt cx="2301662" cy="580031"/>
          </a:xfrm>
        </p:grpSpPr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8B4F08DC-E1A8-C0C5-81AD-3D20850E838B}"/>
                </a:ext>
              </a:extLst>
            </p:cNvPr>
            <p:cNvSpPr/>
            <p:nvPr/>
          </p:nvSpPr>
          <p:spPr>
            <a:xfrm>
              <a:off x="3778624" y="4134281"/>
              <a:ext cx="2214057" cy="580031"/>
            </a:xfrm>
            <a:prstGeom prst="roundRect">
              <a:avLst/>
            </a:prstGeom>
            <a:solidFill>
              <a:srgbClr val="ECEB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CD2E477C-8ADA-E211-9F38-70595AF1560C}"/>
                </a:ext>
              </a:extLst>
            </p:cNvPr>
            <p:cNvSpPr txBox="1"/>
            <p:nvPr/>
          </p:nvSpPr>
          <p:spPr>
            <a:xfrm>
              <a:off x="3734824" y="4145225"/>
              <a:ext cx="2301662" cy="4935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l-GR" sz="1400">
                  <a:solidFill>
                    <a:schemeClr val="tx1"/>
                  </a:solidFill>
                </a:rPr>
                <a:t>Εμφανίζονται οι επεξεργασμένες εικόνες σε ένα </a:t>
              </a:r>
              <a:r>
                <a:rPr lang="en-US" sz="1400">
                  <a:solidFill>
                    <a:schemeClr val="tx1"/>
                  </a:solidFill>
                </a:rPr>
                <a:t>GUI</a:t>
              </a:r>
              <a:r>
                <a:rPr lang="el-GR" sz="1400"/>
                <a:t> καρέ - καρέ</a:t>
              </a:r>
              <a:endParaRPr lang="en-US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AF1EEA8-D515-7381-61A0-A71995BF5C49}"/>
              </a:ext>
            </a:extLst>
          </p:cNvPr>
          <p:cNvGrpSpPr/>
          <p:nvPr/>
        </p:nvGrpSpPr>
        <p:grpSpPr>
          <a:xfrm>
            <a:off x="7268566" y="5805333"/>
            <a:ext cx="4783613" cy="738666"/>
            <a:chOff x="3110464" y="4134280"/>
            <a:chExt cx="2882217" cy="696815"/>
          </a:xfrm>
        </p:grpSpPr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FE82D1E4-17BD-C796-5E7F-4CF018666588}"/>
                </a:ext>
              </a:extLst>
            </p:cNvPr>
            <p:cNvSpPr/>
            <p:nvPr/>
          </p:nvSpPr>
          <p:spPr>
            <a:xfrm>
              <a:off x="3110464" y="4134280"/>
              <a:ext cx="2882217" cy="696812"/>
            </a:xfrm>
            <a:prstGeom prst="roundRect">
              <a:avLst/>
            </a:prstGeom>
            <a:solidFill>
              <a:srgbClr val="ECEB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96B5771-E193-B862-4129-37476A1F40E3}"/>
                </a:ext>
              </a:extLst>
            </p:cNvPr>
            <p:cNvSpPr txBox="1"/>
            <p:nvPr/>
          </p:nvSpPr>
          <p:spPr>
            <a:xfrm>
              <a:off x="3110464" y="4134282"/>
              <a:ext cx="2846541" cy="6968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l-GR" sz="1400"/>
                <a:t>Υπομένει αναμονή ανίχνευσ. πίεσης πλήκτρων</a:t>
              </a:r>
              <a:r>
                <a:rPr lang="en-US" sz="1400"/>
                <a:t> </a:t>
              </a:r>
              <a:r>
                <a:rPr lang="el-GR" sz="1400"/>
                <a:t>από το ΛΣ:</a:t>
              </a:r>
            </a:p>
            <a:p>
              <a:pPr algn="ctr"/>
              <a:r>
                <a:rPr lang="en-US" sz="1400">
                  <a:solidFill>
                    <a:schemeClr val="tx1"/>
                  </a:solidFill>
                </a:rPr>
                <a:t>M </a:t>
              </a:r>
              <a:r>
                <a:rPr lang="el-GR" sz="1400"/>
                <a:t>(ενεργοποίηση έξυπνου ποντικιού) &amp; </a:t>
              </a:r>
              <a:r>
                <a:rPr lang="en-US" sz="1400"/>
                <a:t>Q (Quit) </a:t>
              </a:r>
              <a:r>
                <a:rPr lang="el-GR" sz="1400"/>
                <a:t>ώστε να γλυτώνουμε χρόνο στο </a:t>
              </a:r>
              <a:r>
                <a:rPr lang="en-US" sz="1400"/>
                <a:t>main</a:t>
              </a:r>
              <a:r>
                <a:rPr lang="el-GR" sz="1400"/>
                <a:t> </a:t>
              </a:r>
              <a:r>
                <a:rPr lang="en-US" sz="1400"/>
                <a:t>thread</a:t>
              </a:r>
              <a:endParaRPr lang="en-US" sz="1400">
                <a:solidFill>
                  <a:schemeClr val="tx1"/>
                </a:solidFill>
              </a:endParaRPr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452B046-9AA8-0D53-45A6-9407260FEA6D}"/>
              </a:ext>
            </a:extLst>
          </p:cNvPr>
          <p:cNvSpPr/>
          <p:nvPr/>
        </p:nvSpPr>
        <p:spPr>
          <a:xfrm>
            <a:off x="-44970" y="4293517"/>
            <a:ext cx="6970426" cy="2564483"/>
          </a:xfrm>
          <a:custGeom>
            <a:avLst/>
            <a:gdLst>
              <a:gd name="csX0" fmla="*/ 0 w 6970426"/>
              <a:gd name="csY0" fmla="*/ 241008 h 2564483"/>
              <a:gd name="csX1" fmla="*/ 4369632 w 6970426"/>
              <a:gd name="csY1" fmla="*/ 218522 h 2564483"/>
              <a:gd name="csX2" fmla="*/ 6970426 w 6970426"/>
              <a:gd name="csY2" fmla="*/ 2564483 h 2564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970426" h="2564483">
                <a:moveTo>
                  <a:pt x="0" y="241008"/>
                </a:moveTo>
                <a:cubicBezTo>
                  <a:pt x="1603947" y="36142"/>
                  <a:pt x="3207894" y="-168724"/>
                  <a:pt x="4369632" y="218522"/>
                </a:cubicBezTo>
                <a:cubicBezTo>
                  <a:pt x="5531370" y="605768"/>
                  <a:pt x="6424534" y="2205968"/>
                  <a:pt x="6970426" y="256448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F3712C-7AF9-FBF7-854B-6E33296DC6DE}"/>
                  </a:ext>
                </a:extLst>
              </p:cNvPr>
              <p:cNvSpPr txBox="1"/>
              <p:nvPr/>
            </p:nvSpPr>
            <p:spPr>
              <a:xfrm>
                <a:off x="790886" y="5219417"/>
                <a:ext cx="34444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l-GR" b="1"/>
                  <a:t>Αποτέλεσμα</a:t>
                </a:r>
                <a:r>
                  <a:rPr lang="el-GR"/>
                  <a:t>: Από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</m:oMath>
                </a14:m>
                <a:r>
                  <a:rPr lang="el-GR"/>
                  <a:t>28</a:t>
                </a:r>
                <a:r>
                  <a:rPr lang="en-US"/>
                  <a:t> fps </a:t>
                </a:r>
                <a:r>
                  <a:rPr lang="el-GR"/>
                  <a:t>για σειριακή εκτέλεση του </a:t>
                </a:r>
                <a:r>
                  <a:rPr lang="en-US"/>
                  <a:t>pipeline, </a:t>
                </a:r>
                <a:r>
                  <a:rPr lang="el-GR"/>
                  <a:t>πετύχαμε τα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/>
                  <a:t> </a:t>
                </a:r>
                <a:r>
                  <a:rPr lang="el-GR"/>
                  <a:t>52</a:t>
                </a:r>
                <a:r>
                  <a:rPr lang="en-US"/>
                  <a:t> fps</a:t>
                </a:r>
                <a:r>
                  <a:rPr lang="el-GR"/>
                  <a:t> με την παράλληλλη αρχιτεκτονική.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F3712C-7AF9-FBF7-854B-6E33296DC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86" y="5219417"/>
                <a:ext cx="3444400" cy="1200329"/>
              </a:xfrm>
              <a:prstGeom prst="rect">
                <a:avLst/>
              </a:prstGeom>
              <a:blipFill>
                <a:blip r:embed="rId3"/>
                <a:stretch>
                  <a:fillRect t="-3046" r="-1062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B182B73-E9B1-6C9C-36D3-5CB1DB0D2B09}"/>
              </a:ext>
            </a:extLst>
          </p:cNvPr>
          <p:cNvGrpSpPr/>
          <p:nvPr/>
        </p:nvGrpSpPr>
        <p:grpSpPr>
          <a:xfrm>
            <a:off x="8643718" y="5043896"/>
            <a:ext cx="838982" cy="761436"/>
            <a:chOff x="6688995" y="1079358"/>
            <a:chExt cx="2569416" cy="2336177"/>
          </a:xfrm>
          <a:effectLst/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A592F87-B19F-4970-836A-016453065E4E}"/>
                </a:ext>
              </a:extLst>
            </p:cNvPr>
            <p:cNvGrpSpPr/>
            <p:nvPr/>
          </p:nvGrpSpPr>
          <p:grpSpPr>
            <a:xfrm>
              <a:off x="6688995" y="1079358"/>
              <a:ext cx="2361742" cy="2183647"/>
              <a:chOff x="6688995" y="1079358"/>
              <a:chExt cx="2361742" cy="2183647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7ACA63D7-52EC-65B6-1404-0DC3AABA3E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8995" y="1079358"/>
                <a:ext cx="1946394" cy="1931148"/>
              </a:xfrm>
              <a:prstGeom prst="rect">
                <a:avLst/>
              </a:prstGeom>
              <a:solidFill>
                <a:schemeClr val="bg1"/>
              </a:solidFill>
              <a:effectLst>
                <a:innerShdw blurRad="546100">
                  <a:prstClr val="black"/>
                </a:innerShdw>
                <a:softEdge rad="6350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B1A26DA-52D0-E1B9-AE1D-D2B982E684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96669" y="1161491"/>
                <a:ext cx="1946394" cy="1931148"/>
              </a:xfrm>
              <a:prstGeom prst="rect">
                <a:avLst/>
              </a:prstGeom>
              <a:solidFill>
                <a:schemeClr val="bg1"/>
              </a:solidFill>
              <a:effectLst>
                <a:innerShdw blurRad="546100">
                  <a:prstClr val="black"/>
                </a:innerShdw>
                <a:softEdge rad="6350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24D302E6-224A-209C-56E3-3163E75F82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04343" y="1331857"/>
                <a:ext cx="1946394" cy="1931148"/>
              </a:xfrm>
              <a:prstGeom prst="rect">
                <a:avLst/>
              </a:prstGeom>
              <a:solidFill>
                <a:schemeClr val="bg1"/>
              </a:solidFill>
              <a:effectLst>
                <a:innerShdw blurRad="546100">
                  <a:prstClr val="black"/>
                </a:innerShdw>
                <a:softEdge rad="63500"/>
              </a:effectLst>
            </p:spPr>
          </p:pic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F03F33B-0FC8-A3FA-69FF-2EE32DEF9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2017" y="1484387"/>
              <a:ext cx="1946394" cy="1931148"/>
            </a:xfrm>
            <a:prstGeom prst="rect">
              <a:avLst/>
            </a:prstGeom>
            <a:solidFill>
              <a:schemeClr val="bg1"/>
            </a:solidFill>
            <a:effectLst>
              <a:innerShdw blurRad="546100">
                <a:prstClr val="black"/>
              </a:innerShdw>
              <a:softEdge rad="63500"/>
            </a:effectLst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7F01F32-DA0A-27AB-990B-99A0666944CC}"/>
              </a:ext>
            </a:extLst>
          </p:cNvPr>
          <p:cNvGrpSpPr/>
          <p:nvPr/>
        </p:nvGrpSpPr>
        <p:grpSpPr>
          <a:xfrm>
            <a:off x="490846" y="1231811"/>
            <a:ext cx="752258" cy="809112"/>
            <a:chOff x="4665051" y="3756792"/>
            <a:chExt cx="1341811" cy="144322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F9A4643-A677-B218-F763-0211C35F1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363" t="10295" r="22106"/>
            <a:stretch>
              <a:fillRect/>
            </a:stretch>
          </p:blipFill>
          <p:spPr>
            <a:xfrm>
              <a:off x="4665051" y="3756792"/>
              <a:ext cx="897550" cy="984313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  <a:effectLst/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8033212-BD92-D123-AB31-A90726825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363" t="10295" r="22106"/>
            <a:stretch>
              <a:fillRect/>
            </a:stretch>
          </p:blipFill>
          <p:spPr>
            <a:xfrm>
              <a:off x="4816989" y="3930970"/>
              <a:ext cx="897550" cy="984313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  <a:effectLst/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D2C6A35-8829-3B8B-E1C1-2659D543E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363" t="10295" r="22106"/>
            <a:stretch>
              <a:fillRect/>
            </a:stretch>
          </p:blipFill>
          <p:spPr>
            <a:xfrm>
              <a:off x="4956129" y="4063041"/>
              <a:ext cx="897550" cy="984313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  <a:effectLst/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33F7BFF-C248-3C7B-7135-D00D5F772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363" t="10295" r="22106"/>
            <a:stretch>
              <a:fillRect/>
            </a:stretch>
          </p:blipFill>
          <p:spPr>
            <a:xfrm>
              <a:off x="5109312" y="4215701"/>
              <a:ext cx="897550" cy="984313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22002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890" y="712650"/>
            <a:ext cx="2757846" cy="616155"/>
          </a:xfrm>
        </p:spPr>
        <p:txBody>
          <a:bodyPr/>
          <a:lstStyle/>
          <a:p>
            <a:r>
              <a:rPr lang="el-GR" dirty="0" err="1"/>
              <a:t>Αναφορες</a:t>
            </a:r>
            <a:endParaRPr lang="el-G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4890" y="1267826"/>
            <a:ext cx="7288212" cy="3407051"/>
          </a:xfrm>
        </p:spPr>
        <p:txBody>
          <a:bodyPr>
            <a:normAutofit fontScale="70000" lnSpcReduction="20000"/>
          </a:bodyPr>
          <a:lstStyle/>
          <a:p>
            <a:r>
              <a:rPr lang="en-GB" b="0" dirty="0"/>
              <a:t>[1] Google LLC. 2024. Hand landmarks detection guide. </a:t>
            </a:r>
            <a:r>
              <a:rPr lang="en-GB" b="0" dirty="0" err="1"/>
              <a:t>MediaPipe</a:t>
            </a:r>
            <a:r>
              <a:rPr lang="en-GB" b="0" dirty="0"/>
              <a:t>. Retrieved from </a:t>
            </a:r>
            <a:r>
              <a:rPr lang="en-GB" b="0" dirty="0">
                <a:hlinkClick r:id="rId3"/>
              </a:rPr>
              <a:t>https://ai.google.dev/edge/mediapipe/solutions/vision/hand_landmarker</a:t>
            </a:r>
            <a:r>
              <a:rPr lang="el-GR" b="0" dirty="0"/>
              <a:t> </a:t>
            </a:r>
            <a:r>
              <a:rPr lang="en-GB" b="0" dirty="0"/>
              <a:t> </a:t>
            </a:r>
          </a:p>
          <a:p>
            <a:r>
              <a:rPr lang="en-US" b="0" dirty="0"/>
              <a:t>[2] Fan Zhang, Valentin </a:t>
            </a:r>
            <a:r>
              <a:rPr lang="en-US" b="0" dirty="0" err="1"/>
              <a:t>Bazarevsky</a:t>
            </a:r>
            <a:r>
              <a:rPr lang="en-US" b="0" dirty="0"/>
              <a:t>, Andrey </a:t>
            </a:r>
            <a:r>
              <a:rPr lang="en-US" b="0" dirty="0" err="1"/>
              <a:t>Vakunov</a:t>
            </a:r>
            <a:r>
              <a:rPr lang="en-US" b="0" dirty="0"/>
              <a:t>, Andrei </a:t>
            </a:r>
            <a:r>
              <a:rPr lang="en-US" b="0" dirty="0" err="1"/>
              <a:t>Tkachenka</a:t>
            </a:r>
            <a:r>
              <a:rPr lang="en-US" b="0" dirty="0"/>
              <a:t>, George Sung, Chuo-Ling Chang, and Matthias Grundmann. 2020. </a:t>
            </a:r>
            <a:r>
              <a:rPr lang="en-US" b="0" dirty="0" err="1"/>
              <a:t>MediaPipe</a:t>
            </a:r>
            <a:r>
              <a:rPr lang="en-US" b="0" dirty="0"/>
              <a:t> Hands: On-device Real-time Hand Tracking. arXiv:2006.10214. Retrieved from </a:t>
            </a:r>
            <a:r>
              <a:rPr lang="en-US" b="0" dirty="0">
                <a:hlinkClick r:id="rId4"/>
              </a:rPr>
              <a:t>https://arxiv.org/abs/2006.10214</a:t>
            </a:r>
            <a:r>
              <a:rPr lang="el-GR" b="0" dirty="0"/>
              <a:t> </a:t>
            </a:r>
            <a:r>
              <a:rPr lang="en-US" b="0" dirty="0"/>
              <a:t> </a:t>
            </a:r>
          </a:p>
          <a:p>
            <a:r>
              <a:rPr lang="en-US" b="0" dirty="0"/>
              <a:t>[3] Linux Kernel Developers. 2023. </a:t>
            </a:r>
            <a:r>
              <a:rPr lang="en-US" b="0" dirty="0" err="1"/>
              <a:t>uinput</a:t>
            </a:r>
            <a:r>
              <a:rPr lang="en-US" b="0" dirty="0"/>
              <a:t>: User-level input driver. Linux Kernel Documentation. Retrieved from </a:t>
            </a:r>
            <a:r>
              <a:rPr lang="en-US" b="0" dirty="0">
                <a:hlinkClick r:id="rId5"/>
              </a:rPr>
              <a:t>https://www.kernel.org/doc/html/latest/input/uinput.html</a:t>
            </a:r>
            <a:r>
              <a:rPr lang="el-GR" b="0" dirty="0"/>
              <a:t> </a:t>
            </a:r>
            <a:r>
              <a:rPr lang="en-US" b="0" dirty="0"/>
              <a:t> </a:t>
            </a:r>
          </a:p>
          <a:p>
            <a:r>
              <a:rPr lang="en-US" b="0" dirty="0"/>
              <a:t>[4] Georgi Valkov. 2023. python-</a:t>
            </a:r>
            <a:r>
              <a:rPr lang="en-US" b="0" dirty="0" err="1"/>
              <a:t>evdev</a:t>
            </a:r>
            <a:r>
              <a:rPr lang="en-US" b="0" dirty="0"/>
              <a:t>: Python bindings to the Linux input handling subsystem. Retrieved from </a:t>
            </a:r>
            <a:r>
              <a:rPr lang="en-US" b="0" dirty="0">
                <a:hlinkClick r:id="rId6"/>
              </a:rPr>
              <a:t>https://python-evdev.readthedocs.io/</a:t>
            </a:r>
            <a:r>
              <a:rPr lang="el-GR" b="0" dirty="0"/>
              <a:t> </a:t>
            </a:r>
            <a:r>
              <a:rPr lang="en-US" b="0" dirty="0"/>
              <a:t> </a:t>
            </a:r>
          </a:p>
          <a:p>
            <a:r>
              <a:rPr lang="en-GB" b="0" dirty="0"/>
              <a:t>[5] OpenCV Team. 2024. Open Source Computer Vision Library. Retrieved from </a:t>
            </a:r>
            <a:r>
              <a:rPr lang="en-GB" b="0" dirty="0">
                <a:hlinkClick r:id="rId7"/>
              </a:rPr>
              <a:t>https://docs.opencv.org</a:t>
            </a:r>
            <a:r>
              <a:rPr lang="el-GR" b="0" dirty="0"/>
              <a:t> </a:t>
            </a:r>
            <a:r>
              <a:rPr lang="en-GB" b="0" dirty="0"/>
              <a:t> </a:t>
            </a:r>
          </a:p>
          <a:p>
            <a:r>
              <a:rPr lang="en-GB" b="0" dirty="0"/>
              <a:t>[6] The Wayland Project. 2024. Wayland Protocol. Retrieved from </a:t>
            </a:r>
            <a:r>
              <a:rPr lang="en-GB" b="0" dirty="0">
                <a:hlinkClick r:id="rId8"/>
              </a:rPr>
              <a:t>https://wayland.freedesktop.org</a:t>
            </a:r>
            <a:r>
              <a:rPr lang="el-GR" b="0" dirty="0"/>
              <a:t> </a:t>
            </a:r>
            <a:r>
              <a:rPr lang="en-GB" b="0" dirty="0"/>
              <a:t> </a:t>
            </a:r>
          </a:p>
          <a:p>
            <a:r>
              <a:rPr lang="en-US" b="0" dirty="0"/>
              <a:t>[7] Charles R. Harris, K. Jarrod Millman, Stefan J. van der Walt, et al. 2020. Array programming with NumPy. Nature 585 (2020), 357–362. DOI: </a:t>
            </a:r>
            <a:r>
              <a:rPr lang="en-US" b="0" dirty="0">
                <a:hlinkClick r:id="rId9"/>
              </a:rPr>
              <a:t>https://doi.org/10.1038/s41586-020-2649-2</a:t>
            </a:r>
            <a:r>
              <a:rPr lang="el-GR" b="0" dirty="0"/>
              <a:t> </a:t>
            </a:r>
            <a:endParaRPr lang="en-US" sz="120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3512F98-52F8-3DEC-58B0-E247660BEE1B}"/>
              </a:ext>
            </a:extLst>
          </p:cNvPr>
          <p:cNvSpPr txBox="1">
            <a:spLocks/>
          </p:cNvSpPr>
          <p:nvPr/>
        </p:nvSpPr>
        <p:spPr>
          <a:xfrm>
            <a:off x="3882736" y="237082"/>
            <a:ext cx="4426527" cy="4906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dirty="0" err="1"/>
              <a:t>Ευχαριστουμε</a:t>
            </a:r>
            <a:r>
              <a:rPr lang="el-GR" sz="4000" dirty="0"/>
              <a:t>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5BCEA-56B2-9110-9E28-D12257CEEA5B}"/>
              </a:ext>
            </a:extLst>
          </p:cNvPr>
          <p:cNvSpPr txBox="1"/>
          <p:nvPr/>
        </p:nvSpPr>
        <p:spPr>
          <a:xfrm>
            <a:off x="-600941" y="6406634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>
                <a:hlinkClick r:id="rId10"/>
              </a:rPr>
              <a:t>https://github.com/Ma1cOS/Virtual-Air-Mouse</a:t>
            </a:r>
            <a:r>
              <a:rPr lang="en-US"/>
              <a:t> </a:t>
            </a:r>
            <a:r>
              <a:rPr lang="el-GR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19609B-6206-9981-D864-9A9F2521DAEA}"/>
              </a:ext>
            </a:extLst>
          </p:cNvPr>
          <p:cNvSpPr txBox="1">
            <a:spLocks/>
          </p:cNvSpPr>
          <p:nvPr/>
        </p:nvSpPr>
        <p:spPr>
          <a:xfrm>
            <a:off x="1124890" y="4674877"/>
            <a:ext cx="1859032" cy="5035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dirty="0" err="1"/>
              <a:t>εΙκονεσ</a:t>
            </a:r>
            <a:endParaRPr lang="el-G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105290-5801-6F90-914C-A8DD079D2A91}"/>
              </a:ext>
            </a:extLst>
          </p:cNvPr>
          <p:cNvSpPr txBox="1">
            <a:spLocks/>
          </p:cNvSpPr>
          <p:nvPr/>
        </p:nvSpPr>
        <p:spPr>
          <a:xfrm>
            <a:off x="1169410" y="5111163"/>
            <a:ext cx="7288212" cy="958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hlinkClick r:id="rId11"/>
              </a:rPr>
              <a:t>https://thumbs.dreamstime.com/b/finger-clicking-computer-mouse-11286732.jpg</a:t>
            </a:r>
            <a:endParaRPr lang="el-G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hlinkClick r:id="rId12"/>
              </a:rPr>
              <a:t>https://t4.ftcdn.net/jpg/04/69/08/99/360_F_469089985_0fvUF52LCdDH6X6UEdoBKao7V1bVsDs7.jpg</a:t>
            </a:r>
            <a:endParaRPr lang="el-G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hlinkClick r:id="rId13"/>
              </a:rPr>
              <a:t>https://t4.ftcdn.net/jpg/05/54/78/89/360_F_554788951_fLAy5C8e9bha4caBTWVJN6rvTD0pEVfE.jpg</a:t>
            </a:r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137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F03DC0A-C6C6-48A5-BDC8-127A0C85B4E3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d36b1b21-d62a-4824-9683-70ffb8e192a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88D9846EFC947A36DC8840853FF8C" ma:contentTypeVersion="17" ma:contentTypeDescription="Create a new document." ma:contentTypeScope="" ma:versionID="3f5a8f5a0880e2f8c7484b35304ba4b5">
  <xsd:schema xmlns:xsd="http://www.w3.org/2001/XMLSchema" xmlns:xs="http://www.w3.org/2001/XMLSchema" xmlns:p="http://schemas.microsoft.com/office/2006/metadata/properties" xmlns:ns3="872d5335-408a-471b-96ae-a10de9b89b6e" xmlns:ns4="f4737fdf-8d2e-45bd-bf9d-0c69b93196f5" targetNamespace="http://schemas.microsoft.com/office/2006/metadata/properties" ma:root="true" ma:fieldsID="db2828c68022edf028f372f13e8499d6" ns3:_="" ns4:_="">
    <xsd:import namespace="872d5335-408a-471b-96ae-a10de9b89b6e"/>
    <xsd:import namespace="f4737fdf-8d2e-45bd-bf9d-0c69b93196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2d5335-408a-471b-96ae-a10de9b89b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737fdf-8d2e-45bd-bf9d-0c69b93196f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72d5335-408a-471b-96ae-a10de9b89b6e" xsi:nil="true"/>
    <_activity xmlns="872d5335-408a-471b-96ae-a10de9b89b6e" xsi:nil="true"/>
  </documentManagement>
</p:properties>
</file>

<file path=customXml/itemProps1.xml><?xml version="1.0" encoding="utf-8"?>
<ds:datastoreItem xmlns:ds="http://schemas.openxmlformats.org/officeDocument/2006/customXml" ds:itemID="{374A63A8-B4AA-489E-BBF7-CCEC6412048F}">
  <ds:schemaRefs>
    <ds:schemaRef ds:uri="872d5335-408a-471b-96ae-a10de9b89b6e"/>
    <ds:schemaRef ds:uri="f4737fdf-8d2e-45bd-bf9d-0c69b93196f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f4737fdf-8d2e-45bd-bf9d-0c69b93196f5"/>
    <ds:schemaRef ds:uri="872d5335-408a-471b-96ae-a10de9b89b6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64</TotalTime>
  <Words>1755</Words>
  <Application>Microsoft Office PowerPoint</Application>
  <PresentationFormat>Widescreen</PresentationFormat>
  <Paragraphs>246</Paragraphs>
  <Slides>14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Cambria Math</vt:lpstr>
      <vt:lpstr>Consolas</vt:lpstr>
      <vt:lpstr>Google Sans Text</vt:lpstr>
      <vt:lpstr>Tenorite</vt:lpstr>
      <vt:lpstr>Times New Roman</vt:lpstr>
      <vt:lpstr>Custom</vt:lpstr>
      <vt:lpstr>Equation</vt:lpstr>
      <vt:lpstr>Virtual Air Mouse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Αναφορες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ΠΑΡΑΣΚΕΥΟΠΟΥΛΟΣ ΔΗΜΗΤΡΙΟΣ</dc:creator>
  <cp:lastModifiedBy>ΠΑΡΑΣΚΕΥΟΠΟΥΛΟΣ ΔΗΜΗΤΡΙΟΣ</cp:lastModifiedBy>
  <cp:revision>2</cp:revision>
  <dcterms:created xsi:type="dcterms:W3CDTF">2026-06-05T15:41:28Z</dcterms:created>
  <dcterms:modified xsi:type="dcterms:W3CDTF">2026-06-07T10:48:15Z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0x010100F2888D9846EFC947A36DC8840853FF8C</vt:lpwstr>
  </property>
  <property fmtid="{D5CDD505-2E9C-101B-9397-08002B2CF9AE}" pid="3" name="MediaServiceImageTags">
    <vt:lpwstr/>
  </property>
</Properties>
</file>